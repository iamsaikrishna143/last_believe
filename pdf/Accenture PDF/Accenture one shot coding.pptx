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3" r:id="rId2"/>
    <p:sldId id="264" r:id="rId3"/>
    <p:sldId id="265" r:id="rId4"/>
    <p:sldId id="266" r:id="rId5"/>
    <p:sldId id="273" r:id="rId6"/>
    <p:sldId id="267" r:id="rId7"/>
    <p:sldId id="272" r:id="rId8"/>
    <p:sldId id="268" r:id="rId9"/>
    <p:sldId id="271" r:id="rId10"/>
    <p:sldId id="2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100" d="100"/>
          <a:sy n="100" d="100"/>
        </p:scale>
        <p:origin x="936"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8/4/2024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www.geeksforgeeks.org/basic-programming-problems/"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6360" y="83976"/>
            <a:ext cx="909462" cy="905069"/>
          </a:xfrm>
          <a:prstGeom prst="rect">
            <a:avLst/>
          </a:prstGeom>
        </p:spPr>
      </p:pic>
      <p:sp>
        <p:nvSpPr>
          <p:cNvPr id="3" name="TextBox 2">
            <a:extLst>
              <a:ext uri="{FF2B5EF4-FFF2-40B4-BE49-F238E27FC236}">
                <a16:creationId xmlns:a16="http://schemas.microsoft.com/office/drawing/2014/main" id="{C0FB0872-87BE-0D48-D884-7D07E3DA337F}"/>
              </a:ext>
            </a:extLst>
          </p:cNvPr>
          <p:cNvSpPr txBox="1"/>
          <p:nvPr/>
        </p:nvSpPr>
        <p:spPr>
          <a:xfrm>
            <a:off x="0" y="83976"/>
            <a:ext cx="12315329" cy="707886"/>
          </a:xfrm>
          <a:prstGeom prst="rect">
            <a:avLst/>
          </a:prstGeom>
          <a:noFill/>
        </p:spPr>
        <p:txBody>
          <a:bodyPr wrap="square" rtlCol="0">
            <a:spAutoFit/>
          </a:bodyPr>
          <a:lstStyle/>
          <a:p>
            <a:r>
              <a:rPr lang="en-IN" sz="4000" b="1" u="sng" dirty="0">
                <a:highlight>
                  <a:srgbClr val="FFFF00"/>
                </a:highlight>
              </a:rPr>
              <a:t>Accenture One-Shot Coding Preparation</a:t>
            </a:r>
          </a:p>
        </p:txBody>
      </p:sp>
      <p:pic>
        <p:nvPicPr>
          <p:cNvPr id="7" name="Picture 6">
            <a:extLst>
              <a:ext uri="{FF2B5EF4-FFF2-40B4-BE49-F238E27FC236}">
                <a16:creationId xmlns:a16="http://schemas.microsoft.com/office/drawing/2014/main" id="{F1CF8A3B-3064-38D2-92CB-8DDC90B9216C}"/>
              </a:ext>
            </a:extLst>
          </p:cNvPr>
          <p:cNvPicPr>
            <a:picLocks noChangeAspect="1"/>
          </p:cNvPicPr>
          <p:nvPr/>
        </p:nvPicPr>
        <p:blipFill>
          <a:blip r:embed="rId3"/>
          <a:stretch>
            <a:fillRect/>
          </a:stretch>
        </p:blipFill>
        <p:spPr>
          <a:xfrm>
            <a:off x="196330" y="1101577"/>
            <a:ext cx="9902803" cy="2818490"/>
          </a:xfrm>
          <a:prstGeom prst="rect">
            <a:avLst/>
          </a:prstGeom>
        </p:spPr>
      </p:pic>
    </p:spTree>
    <p:extLst>
      <p:ext uri="{BB962C8B-B14F-4D97-AF65-F5344CB8AC3E}">
        <p14:creationId xmlns:p14="http://schemas.microsoft.com/office/powerpoint/2010/main" val="1930951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6360" y="83976"/>
            <a:ext cx="909462" cy="905069"/>
          </a:xfrm>
          <a:prstGeom prst="rect">
            <a:avLst/>
          </a:prstGeom>
        </p:spPr>
      </p:pic>
      <p:sp>
        <p:nvSpPr>
          <p:cNvPr id="3" name="TextBox 2">
            <a:extLst>
              <a:ext uri="{FF2B5EF4-FFF2-40B4-BE49-F238E27FC236}">
                <a16:creationId xmlns:a16="http://schemas.microsoft.com/office/drawing/2014/main" id="{C0FB0872-87BE-0D48-D884-7D07E3DA337F}"/>
              </a:ext>
            </a:extLst>
          </p:cNvPr>
          <p:cNvSpPr txBox="1"/>
          <p:nvPr/>
        </p:nvSpPr>
        <p:spPr>
          <a:xfrm>
            <a:off x="0" y="83976"/>
            <a:ext cx="12315329" cy="707886"/>
          </a:xfrm>
          <a:prstGeom prst="rect">
            <a:avLst/>
          </a:prstGeom>
          <a:noFill/>
        </p:spPr>
        <p:txBody>
          <a:bodyPr wrap="square" rtlCol="0">
            <a:spAutoFit/>
          </a:bodyPr>
          <a:lstStyle/>
          <a:p>
            <a:r>
              <a:rPr lang="en-IN" sz="4000" b="1" u="sng" dirty="0">
                <a:highlight>
                  <a:srgbClr val="FFFF00"/>
                </a:highlight>
              </a:rPr>
              <a:t>Accenture One-Shot Coding Preparation</a:t>
            </a:r>
          </a:p>
        </p:txBody>
      </p:sp>
      <p:sp>
        <p:nvSpPr>
          <p:cNvPr id="4" name="TextBox 3">
            <a:extLst>
              <a:ext uri="{FF2B5EF4-FFF2-40B4-BE49-F238E27FC236}">
                <a16:creationId xmlns:a16="http://schemas.microsoft.com/office/drawing/2014/main" id="{8A390624-E758-BD95-42EB-FC0D7436765F}"/>
              </a:ext>
            </a:extLst>
          </p:cNvPr>
          <p:cNvSpPr txBox="1"/>
          <p:nvPr/>
        </p:nvSpPr>
        <p:spPr>
          <a:xfrm>
            <a:off x="61382" y="1208101"/>
            <a:ext cx="7685617" cy="2308324"/>
          </a:xfrm>
          <a:prstGeom prst="rect">
            <a:avLst/>
          </a:prstGeom>
          <a:noFill/>
        </p:spPr>
        <p:txBody>
          <a:bodyPr wrap="square">
            <a:spAutoFit/>
          </a:bodyPr>
          <a:lstStyle/>
          <a:p>
            <a:r>
              <a:rPr lang="en-IN" sz="3600" b="1" u="sng" dirty="0"/>
              <a:t>Accenture Coding Important Topics:</a:t>
            </a:r>
          </a:p>
          <a:p>
            <a:pPr marL="571500" indent="-571500">
              <a:buFont typeface="Arial" panose="020B0604020202020204" pitchFamily="34" charset="0"/>
              <a:buChar char="•"/>
            </a:pPr>
            <a:r>
              <a:rPr lang="en-IN" sz="3600" dirty="0"/>
              <a:t>Array</a:t>
            </a:r>
          </a:p>
          <a:p>
            <a:pPr marL="571500" indent="-571500">
              <a:buFont typeface="Arial" panose="020B0604020202020204" pitchFamily="34" charset="0"/>
              <a:buChar char="•"/>
            </a:pPr>
            <a:r>
              <a:rPr lang="en-IN" sz="3600" dirty="0"/>
              <a:t>String</a:t>
            </a:r>
          </a:p>
          <a:p>
            <a:pPr marL="571500" indent="-571500">
              <a:buFont typeface="Arial" panose="020B0604020202020204" pitchFamily="34" charset="0"/>
              <a:buChar char="•"/>
            </a:pPr>
            <a:r>
              <a:rPr lang="en-IN" sz="3600" dirty="0"/>
              <a:t>LinkedList</a:t>
            </a:r>
          </a:p>
        </p:txBody>
      </p:sp>
    </p:spTree>
    <p:extLst>
      <p:ext uri="{BB962C8B-B14F-4D97-AF65-F5344CB8AC3E}">
        <p14:creationId xmlns:p14="http://schemas.microsoft.com/office/powerpoint/2010/main" val="2593518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6360" y="83976"/>
            <a:ext cx="909462" cy="905069"/>
          </a:xfrm>
          <a:prstGeom prst="rect">
            <a:avLst/>
          </a:prstGeom>
        </p:spPr>
      </p:pic>
      <p:sp>
        <p:nvSpPr>
          <p:cNvPr id="3" name="TextBox 2">
            <a:extLst>
              <a:ext uri="{FF2B5EF4-FFF2-40B4-BE49-F238E27FC236}">
                <a16:creationId xmlns:a16="http://schemas.microsoft.com/office/drawing/2014/main" id="{C0FB0872-87BE-0D48-D884-7D07E3DA337F}"/>
              </a:ext>
            </a:extLst>
          </p:cNvPr>
          <p:cNvSpPr txBox="1"/>
          <p:nvPr/>
        </p:nvSpPr>
        <p:spPr>
          <a:xfrm>
            <a:off x="0" y="83976"/>
            <a:ext cx="12315329" cy="707886"/>
          </a:xfrm>
          <a:prstGeom prst="rect">
            <a:avLst/>
          </a:prstGeom>
          <a:noFill/>
        </p:spPr>
        <p:txBody>
          <a:bodyPr wrap="square" rtlCol="0">
            <a:spAutoFit/>
          </a:bodyPr>
          <a:lstStyle/>
          <a:p>
            <a:r>
              <a:rPr lang="en-IN" sz="4000" b="1" u="sng" dirty="0">
                <a:highlight>
                  <a:srgbClr val="FFFF00"/>
                </a:highlight>
              </a:rPr>
              <a:t>Accenture One-Shot Coding Preparation</a:t>
            </a:r>
          </a:p>
        </p:txBody>
      </p:sp>
      <p:sp>
        <p:nvSpPr>
          <p:cNvPr id="4" name="TextBox 3">
            <a:extLst>
              <a:ext uri="{FF2B5EF4-FFF2-40B4-BE49-F238E27FC236}">
                <a16:creationId xmlns:a16="http://schemas.microsoft.com/office/drawing/2014/main" id="{8A390624-E758-BD95-42EB-FC0D7436765F}"/>
              </a:ext>
            </a:extLst>
          </p:cNvPr>
          <p:cNvSpPr txBox="1"/>
          <p:nvPr/>
        </p:nvSpPr>
        <p:spPr>
          <a:xfrm>
            <a:off x="61382" y="1208101"/>
            <a:ext cx="7685617" cy="2862322"/>
          </a:xfrm>
          <a:prstGeom prst="rect">
            <a:avLst/>
          </a:prstGeom>
          <a:noFill/>
        </p:spPr>
        <p:txBody>
          <a:bodyPr wrap="square">
            <a:spAutoFit/>
          </a:bodyPr>
          <a:lstStyle/>
          <a:p>
            <a:r>
              <a:rPr lang="en-IN" sz="3600" b="1" u="sng" dirty="0"/>
              <a:t>Accenture Coding Practice Platform:</a:t>
            </a:r>
          </a:p>
          <a:p>
            <a:pPr marL="571500" indent="-571500">
              <a:buFont typeface="Arial" panose="020B0604020202020204" pitchFamily="34" charset="0"/>
              <a:buChar char="•"/>
            </a:pPr>
            <a:r>
              <a:rPr lang="en-IN" sz="3600" dirty="0"/>
              <a:t>Hacker Rank</a:t>
            </a:r>
          </a:p>
          <a:p>
            <a:pPr marL="571500" indent="-571500">
              <a:buFont typeface="Arial" panose="020B0604020202020204" pitchFamily="34" charset="0"/>
              <a:buChar char="•"/>
            </a:pPr>
            <a:r>
              <a:rPr lang="en-IN" sz="3600" dirty="0"/>
              <a:t>Hacker Earth</a:t>
            </a:r>
          </a:p>
          <a:p>
            <a:pPr marL="571500" indent="-571500">
              <a:buFont typeface="Arial" panose="020B0604020202020204" pitchFamily="34" charset="0"/>
              <a:buChar char="•"/>
            </a:pPr>
            <a:r>
              <a:rPr lang="en-IN" sz="3600" dirty="0"/>
              <a:t>LeetCode</a:t>
            </a:r>
          </a:p>
          <a:p>
            <a:pPr marL="571500" indent="-571500">
              <a:buFont typeface="Arial" panose="020B0604020202020204" pitchFamily="34" charset="0"/>
              <a:buChar char="•"/>
            </a:pPr>
            <a:r>
              <a:rPr lang="en-IN" sz="3600" dirty="0"/>
              <a:t>Code Chef</a:t>
            </a:r>
          </a:p>
        </p:txBody>
      </p:sp>
      <p:pic>
        <p:nvPicPr>
          <p:cNvPr id="6" name="Picture 5">
            <a:extLst>
              <a:ext uri="{FF2B5EF4-FFF2-40B4-BE49-F238E27FC236}">
                <a16:creationId xmlns:a16="http://schemas.microsoft.com/office/drawing/2014/main" id="{F535B3BD-BAC0-A273-36B4-FA1459DDE03D}"/>
              </a:ext>
            </a:extLst>
          </p:cNvPr>
          <p:cNvPicPr>
            <a:picLocks noChangeAspect="1"/>
          </p:cNvPicPr>
          <p:nvPr/>
        </p:nvPicPr>
        <p:blipFill>
          <a:blip r:embed="rId3"/>
          <a:stretch>
            <a:fillRect/>
          </a:stretch>
        </p:blipFill>
        <p:spPr>
          <a:xfrm>
            <a:off x="3249650" y="3110481"/>
            <a:ext cx="4497349" cy="3404619"/>
          </a:xfrm>
          <a:prstGeom prst="rect">
            <a:avLst/>
          </a:prstGeom>
        </p:spPr>
      </p:pic>
      <p:pic>
        <p:nvPicPr>
          <p:cNvPr id="8" name="Picture 7">
            <a:extLst>
              <a:ext uri="{FF2B5EF4-FFF2-40B4-BE49-F238E27FC236}">
                <a16:creationId xmlns:a16="http://schemas.microsoft.com/office/drawing/2014/main" id="{EAFD2D7B-5766-E67B-3F89-69156DF0A179}"/>
              </a:ext>
            </a:extLst>
          </p:cNvPr>
          <p:cNvPicPr>
            <a:picLocks noChangeAspect="1"/>
          </p:cNvPicPr>
          <p:nvPr/>
        </p:nvPicPr>
        <p:blipFill rotWithShape="1">
          <a:blip r:embed="rId4"/>
          <a:srcRect r="42027"/>
          <a:stretch/>
        </p:blipFill>
        <p:spPr>
          <a:xfrm>
            <a:off x="8058621" y="3798353"/>
            <a:ext cx="4017201" cy="2716747"/>
          </a:xfrm>
          <a:prstGeom prst="rect">
            <a:avLst/>
          </a:prstGeom>
        </p:spPr>
      </p:pic>
    </p:spTree>
    <p:extLst>
      <p:ext uri="{BB962C8B-B14F-4D97-AF65-F5344CB8AC3E}">
        <p14:creationId xmlns:p14="http://schemas.microsoft.com/office/powerpoint/2010/main" val="3511399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6360" y="83976"/>
            <a:ext cx="909462" cy="905069"/>
          </a:xfrm>
          <a:prstGeom prst="rect">
            <a:avLst/>
          </a:prstGeom>
        </p:spPr>
      </p:pic>
      <p:sp>
        <p:nvSpPr>
          <p:cNvPr id="3" name="TextBox 2">
            <a:extLst>
              <a:ext uri="{FF2B5EF4-FFF2-40B4-BE49-F238E27FC236}">
                <a16:creationId xmlns:a16="http://schemas.microsoft.com/office/drawing/2014/main" id="{C0FB0872-87BE-0D48-D884-7D07E3DA337F}"/>
              </a:ext>
            </a:extLst>
          </p:cNvPr>
          <p:cNvSpPr txBox="1"/>
          <p:nvPr/>
        </p:nvSpPr>
        <p:spPr>
          <a:xfrm>
            <a:off x="0" y="83976"/>
            <a:ext cx="12315329" cy="707886"/>
          </a:xfrm>
          <a:prstGeom prst="rect">
            <a:avLst/>
          </a:prstGeom>
          <a:noFill/>
        </p:spPr>
        <p:txBody>
          <a:bodyPr wrap="square" rtlCol="0">
            <a:spAutoFit/>
          </a:bodyPr>
          <a:lstStyle/>
          <a:p>
            <a:r>
              <a:rPr lang="en-IN" sz="4000" b="1" u="sng" dirty="0">
                <a:highlight>
                  <a:srgbClr val="FFFF00"/>
                </a:highlight>
              </a:rPr>
              <a:t>Accenture One-Shot Coding Preparation</a:t>
            </a:r>
          </a:p>
        </p:txBody>
      </p:sp>
      <p:pic>
        <p:nvPicPr>
          <p:cNvPr id="7" name="Picture 6">
            <a:extLst>
              <a:ext uri="{FF2B5EF4-FFF2-40B4-BE49-F238E27FC236}">
                <a16:creationId xmlns:a16="http://schemas.microsoft.com/office/drawing/2014/main" id="{EA60FE88-973D-54CC-EAA9-B4973CC1AA81}"/>
              </a:ext>
            </a:extLst>
          </p:cNvPr>
          <p:cNvPicPr>
            <a:picLocks noChangeAspect="1"/>
          </p:cNvPicPr>
          <p:nvPr/>
        </p:nvPicPr>
        <p:blipFill>
          <a:blip r:embed="rId3"/>
          <a:stretch>
            <a:fillRect/>
          </a:stretch>
        </p:blipFill>
        <p:spPr>
          <a:xfrm>
            <a:off x="175559" y="1123601"/>
            <a:ext cx="5272741" cy="2821426"/>
          </a:xfrm>
          <a:prstGeom prst="rect">
            <a:avLst/>
          </a:prstGeom>
        </p:spPr>
      </p:pic>
      <p:pic>
        <p:nvPicPr>
          <p:cNvPr id="10" name="Picture 9">
            <a:extLst>
              <a:ext uri="{FF2B5EF4-FFF2-40B4-BE49-F238E27FC236}">
                <a16:creationId xmlns:a16="http://schemas.microsoft.com/office/drawing/2014/main" id="{18F02C70-A692-51D7-DFD8-11856B780AF5}"/>
              </a:ext>
            </a:extLst>
          </p:cNvPr>
          <p:cNvPicPr>
            <a:picLocks noChangeAspect="1"/>
          </p:cNvPicPr>
          <p:nvPr/>
        </p:nvPicPr>
        <p:blipFill>
          <a:blip r:embed="rId4"/>
          <a:stretch>
            <a:fillRect/>
          </a:stretch>
        </p:blipFill>
        <p:spPr>
          <a:xfrm>
            <a:off x="5678974" y="1123600"/>
            <a:ext cx="3331676" cy="5288789"/>
          </a:xfrm>
          <a:prstGeom prst="rect">
            <a:avLst/>
          </a:prstGeom>
        </p:spPr>
      </p:pic>
      <p:pic>
        <p:nvPicPr>
          <p:cNvPr id="12" name="Picture 11">
            <a:extLst>
              <a:ext uri="{FF2B5EF4-FFF2-40B4-BE49-F238E27FC236}">
                <a16:creationId xmlns:a16="http://schemas.microsoft.com/office/drawing/2014/main" id="{839BA211-B69D-E639-93ED-FABF9E09BD35}"/>
              </a:ext>
            </a:extLst>
          </p:cNvPr>
          <p:cNvPicPr>
            <a:picLocks noChangeAspect="1"/>
          </p:cNvPicPr>
          <p:nvPr/>
        </p:nvPicPr>
        <p:blipFill>
          <a:blip r:embed="rId5"/>
          <a:stretch>
            <a:fillRect/>
          </a:stretch>
        </p:blipFill>
        <p:spPr>
          <a:xfrm>
            <a:off x="9096376" y="1659027"/>
            <a:ext cx="2837582" cy="4572000"/>
          </a:xfrm>
          <a:prstGeom prst="rect">
            <a:avLst/>
          </a:prstGeom>
        </p:spPr>
      </p:pic>
      <p:sp>
        <p:nvSpPr>
          <p:cNvPr id="14" name="TextBox 13">
            <a:extLst>
              <a:ext uri="{FF2B5EF4-FFF2-40B4-BE49-F238E27FC236}">
                <a16:creationId xmlns:a16="http://schemas.microsoft.com/office/drawing/2014/main" id="{31FCD9C6-79ED-ECBD-4B2A-CDD5957CF242}"/>
              </a:ext>
            </a:extLst>
          </p:cNvPr>
          <p:cNvSpPr txBox="1"/>
          <p:nvPr/>
        </p:nvSpPr>
        <p:spPr>
          <a:xfrm>
            <a:off x="0" y="4107488"/>
            <a:ext cx="6267450" cy="338554"/>
          </a:xfrm>
          <a:prstGeom prst="rect">
            <a:avLst/>
          </a:prstGeom>
          <a:noFill/>
        </p:spPr>
        <p:txBody>
          <a:bodyPr wrap="square">
            <a:spAutoFit/>
          </a:bodyPr>
          <a:lstStyle/>
          <a:p>
            <a:r>
              <a:rPr lang="en-IN" sz="1600" b="1" dirty="0">
                <a:hlinkClick r:id="rId6"/>
              </a:rPr>
              <a:t>https://www.geeksforgeeks.org/basic-programming-problems/</a:t>
            </a:r>
            <a:r>
              <a:rPr lang="en-IN" sz="1600" b="1" dirty="0"/>
              <a:t> </a:t>
            </a:r>
          </a:p>
        </p:txBody>
      </p:sp>
    </p:spTree>
    <p:extLst>
      <p:ext uri="{BB962C8B-B14F-4D97-AF65-F5344CB8AC3E}">
        <p14:creationId xmlns:p14="http://schemas.microsoft.com/office/powerpoint/2010/main" val="3596055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6360" y="83976"/>
            <a:ext cx="909462" cy="905069"/>
          </a:xfrm>
          <a:prstGeom prst="rect">
            <a:avLst/>
          </a:prstGeom>
        </p:spPr>
      </p:pic>
      <p:sp>
        <p:nvSpPr>
          <p:cNvPr id="3" name="TextBox 2">
            <a:extLst>
              <a:ext uri="{FF2B5EF4-FFF2-40B4-BE49-F238E27FC236}">
                <a16:creationId xmlns:a16="http://schemas.microsoft.com/office/drawing/2014/main" id="{C0FB0872-87BE-0D48-D884-7D07E3DA337F}"/>
              </a:ext>
            </a:extLst>
          </p:cNvPr>
          <p:cNvSpPr txBox="1"/>
          <p:nvPr/>
        </p:nvSpPr>
        <p:spPr>
          <a:xfrm>
            <a:off x="0" y="83976"/>
            <a:ext cx="12315329" cy="707886"/>
          </a:xfrm>
          <a:prstGeom prst="rect">
            <a:avLst/>
          </a:prstGeom>
          <a:noFill/>
        </p:spPr>
        <p:txBody>
          <a:bodyPr wrap="square" rtlCol="0">
            <a:spAutoFit/>
          </a:bodyPr>
          <a:lstStyle/>
          <a:p>
            <a:r>
              <a:rPr lang="en-IN" sz="4000" b="1" u="sng" dirty="0">
                <a:highlight>
                  <a:srgbClr val="FFFF00"/>
                </a:highlight>
              </a:rPr>
              <a:t>Accenture One-Shot Coding Preparation</a:t>
            </a:r>
          </a:p>
        </p:txBody>
      </p:sp>
      <p:pic>
        <p:nvPicPr>
          <p:cNvPr id="8" name="Picture 7">
            <a:extLst>
              <a:ext uri="{FF2B5EF4-FFF2-40B4-BE49-F238E27FC236}">
                <a16:creationId xmlns:a16="http://schemas.microsoft.com/office/drawing/2014/main" id="{09830D82-20F2-4484-9AE6-ED81F6C4580A}"/>
              </a:ext>
            </a:extLst>
          </p:cNvPr>
          <p:cNvPicPr>
            <a:picLocks noChangeAspect="1"/>
          </p:cNvPicPr>
          <p:nvPr/>
        </p:nvPicPr>
        <p:blipFill>
          <a:blip r:embed="rId3"/>
          <a:stretch>
            <a:fillRect/>
          </a:stretch>
        </p:blipFill>
        <p:spPr>
          <a:xfrm>
            <a:off x="359027" y="1287163"/>
            <a:ext cx="6474974" cy="4846938"/>
          </a:xfrm>
          <a:prstGeom prst="rect">
            <a:avLst/>
          </a:prstGeom>
        </p:spPr>
      </p:pic>
      <p:pic>
        <p:nvPicPr>
          <p:cNvPr id="9" name="Picture 8">
            <a:extLst>
              <a:ext uri="{FF2B5EF4-FFF2-40B4-BE49-F238E27FC236}">
                <a16:creationId xmlns:a16="http://schemas.microsoft.com/office/drawing/2014/main" id="{47BD6DB2-5EBA-DA06-B5A0-E127407F4583}"/>
              </a:ext>
            </a:extLst>
          </p:cNvPr>
          <p:cNvPicPr>
            <a:picLocks noChangeAspect="1"/>
          </p:cNvPicPr>
          <p:nvPr/>
        </p:nvPicPr>
        <p:blipFill>
          <a:blip r:embed="rId4"/>
          <a:stretch>
            <a:fillRect/>
          </a:stretch>
        </p:blipFill>
        <p:spPr>
          <a:xfrm>
            <a:off x="6972487" y="1884395"/>
            <a:ext cx="5103335" cy="2297080"/>
          </a:xfrm>
          <a:prstGeom prst="rect">
            <a:avLst/>
          </a:prstGeom>
        </p:spPr>
      </p:pic>
    </p:spTree>
    <p:extLst>
      <p:ext uri="{BB962C8B-B14F-4D97-AF65-F5344CB8AC3E}">
        <p14:creationId xmlns:p14="http://schemas.microsoft.com/office/powerpoint/2010/main" val="222710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6360" y="83976"/>
            <a:ext cx="909462" cy="905069"/>
          </a:xfrm>
          <a:prstGeom prst="rect">
            <a:avLst/>
          </a:prstGeom>
        </p:spPr>
      </p:pic>
      <p:sp>
        <p:nvSpPr>
          <p:cNvPr id="3" name="TextBox 2">
            <a:extLst>
              <a:ext uri="{FF2B5EF4-FFF2-40B4-BE49-F238E27FC236}">
                <a16:creationId xmlns:a16="http://schemas.microsoft.com/office/drawing/2014/main" id="{C0FB0872-87BE-0D48-D884-7D07E3DA337F}"/>
              </a:ext>
            </a:extLst>
          </p:cNvPr>
          <p:cNvSpPr txBox="1"/>
          <p:nvPr/>
        </p:nvSpPr>
        <p:spPr>
          <a:xfrm>
            <a:off x="0" y="83976"/>
            <a:ext cx="12315329" cy="707886"/>
          </a:xfrm>
          <a:prstGeom prst="rect">
            <a:avLst/>
          </a:prstGeom>
          <a:noFill/>
        </p:spPr>
        <p:txBody>
          <a:bodyPr wrap="square" rtlCol="0">
            <a:spAutoFit/>
          </a:bodyPr>
          <a:lstStyle/>
          <a:p>
            <a:r>
              <a:rPr lang="en-IN" sz="4000" b="1" u="sng" dirty="0">
                <a:highlight>
                  <a:srgbClr val="FFFF00"/>
                </a:highlight>
              </a:rPr>
              <a:t>Accenture One-Shot Coding Preparation</a:t>
            </a:r>
          </a:p>
        </p:txBody>
      </p:sp>
      <p:sp>
        <p:nvSpPr>
          <p:cNvPr id="4" name="TextBox 3">
            <a:extLst>
              <a:ext uri="{FF2B5EF4-FFF2-40B4-BE49-F238E27FC236}">
                <a16:creationId xmlns:a16="http://schemas.microsoft.com/office/drawing/2014/main" id="{55381AC1-056F-9E15-4E04-7B8062A6BEE7}"/>
              </a:ext>
            </a:extLst>
          </p:cNvPr>
          <p:cNvSpPr txBox="1"/>
          <p:nvPr/>
        </p:nvSpPr>
        <p:spPr>
          <a:xfrm>
            <a:off x="116178" y="1074770"/>
            <a:ext cx="12075822" cy="5632311"/>
          </a:xfrm>
          <a:prstGeom prst="rect">
            <a:avLst/>
          </a:prstGeom>
          <a:noFill/>
        </p:spPr>
        <p:txBody>
          <a:bodyPr wrap="square">
            <a:spAutoFit/>
          </a:bodyPr>
          <a:lstStyle/>
          <a:p>
            <a:r>
              <a:rPr lang="en-IN" sz="2000" dirty="0"/>
              <a:t>Q1. Ann recently began using the metro to work. We are aware that a single ride on the metro costs one ruble. Ann also learned that she can purchase a unique ticket for the rides (she can buy it several times). The price is b rubles. Ann calculated that she would need to take the subway n times. Help Ann out by letting her know how much money she must have in order to buy n rides.</a:t>
            </a:r>
          </a:p>
          <a:p>
            <a:endParaRPr lang="en-IN" sz="2000" dirty="0"/>
          </a:p>
          <a:p>
            <a:r>
              <a:rPr lang="en-IN" sz="2000" dirty="0"/>
              <a:t>Input</a:t>
            </a:r>
          </a:p>
          <a:p>
            <a:r>
              <a:rPr lang="en-IN" sz="2000" dirty="0"/>
              <a:t>The four numbers n, m, a, b (1 n, m, a, b 1000) on a single line represent the number of rides Ann has scheduled, the number of rides covered by the m ride ticket, the cost of a one ride ticket, and the cost of a m ride ticket.</a:t>
            </a:r>
          </a:p>
          <a:p>
            <a:endParaRPr lang="en-IN" sz="2000" dirty="0"/>
          </a:p>
          <a:p>
            <a:r>
              <a:rPr lang="en-IN" sz="2000" dirty="0"/>
              <a:t>Output</a:t>
            </a:r>
          </a:p>
          <a:p>
            <a:r>
              <a:rPr lang="en-IN" sz="2000" dirty="0"/>
              <a:t>Print a single integer.</a:t>
            </a:r>
          </a:p>
          <a:p>
            <a:r>
              <a:rPr lang="en-IN" sz="2000" dirty="0"/>
              <a:t>the minimum sum in rubles that Ann will need to spend.</a:t>
            </a:r>
          </a:p>
          <a:p>
            <a:endParaRPr lang="en-IN" sz="2000" dirty="0"/>
          </a:p>
          <a:p>
            <a:r>
              <a:rPr lang="en-IN" sz="2000" dirty="0"/>
              <a:t>Input 1: </a:t>
            </a:r>
          </a:p>
          <a:p>
            <a:r>
              <a:rPr lang="en-IN" sz="2000" dirty="0"/>
              <a:t>6 2 1 2          </a:t>
            </a:r>
          </a:p>
          <a:p>
            <a:endParaRPr lang="en-IN" sz="2000" dirty="0"/>
          </a:p>
          <a:p>
            <a:r>
              <a:rPr lang="en-IN" sz="2000" dirty="0"/>
              <a:t>Output:</a:t>
            </a:r>
          </a:p>
          <a:p>
            <a:r>
              <a:rPr lang="en-IN" sz="2000" dirty="0"/>
              <a:t>6</a:t>
            </a:r>
          </a:p>
        </p:txBody>
      </p:sp>
      <p:sp>
        <p:nvSpPr>
          <p:cNvPr id="8" name="TextBox 7">
            <a:extLst>
              <a:ext uri="{FF2B5EF4-FFF2-40B4-BE49-F238E27FC236}">
                <a16:creationId xmlns:a16="http://schemas.microsoft.com/office/drawing/2014/main" id="{09DBE40B-8F93-0884-81D4-9CE499F8796D}"/>
              </a:ext>
            </a:extLst>
          </p:cNvPr>
          <p:cNvSpPr txBox="1"/>
          <p:nvPr/>
        </p:nvSpPr>
        <p:spPr>
          <a:xfrm>
            <a:off x="7029450" y="4730704"/>
            <a:ext cx="6267450" cy="1477328"/>
          </a:xfrm>
          <a:prstGeom prst="rect">
            <a:avLst/>
          </a:prstGeom>
          <a:noFill/>
        </p:spPr>
        <p:txBody>
          <a:bodyPr wrap="square">
            <a:spAutoFit/>
          </a:bodyPr>
          <a:lstStyle/>
          <a:p>
            <a:r>
              <a:rPr lang="en-IN" dirty="0"/>
              <a:t>Input 2: </a:t>
            </a:r>
          </a:p>
          <a:p>
            <a:r>
              <a:rPr lang="en-IN" dirty="0"/>
              <a:t>5 2 2 3</a:t>
            </a:r>
          </a:p>
          <a:p>
            <a:endParaRPr lang="en-IN" dirty="0"/>
          </a:p>
          <a:p>
            <a:r>
              <a:rPr lang="en-IN" dirty="0"/>
              <a:t>Output:</a:t>
            </a:r>
          </a:p>
          <a:p>
            <a:r>
              <a:rPr lang="en-IN" dirty="0"/>
              <a:t>9</a:t>
            </a:r>
          </a:p>
        </p:txBody>
      </p:sp>
    </p:spTree>
    <p:extLst>
      <p:ext uri="{BB962C8B-B14F-4D97-AF65-F5344CB8AC3E}">
        <p14:creationId xmlns:p14="http://schemas.microsoft.com/office/powerpoint/2010/main" val="3981906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6360" y="83976"/>
            <a:ext cx="909462" cy="905069"/>
          </a:xfrm>
          <a:prstGeom prst="rect">
            <a:avLst/>
          </a:prstGeom>
        </p:spPr>
      </p:pic>
      <p:sp>
        <p:nvSpPr>
          <p:cNvPr id="3" name="TextBox 2">
            <a:extLst>
              <a:ext uri="{FF2B5EF4-FFF2-40B4-BE49-F238E27FC236}">
                <a16:creationId xmlns:a16="http://schemas.microsoft.com/office/drawing/2014/main" id="{C0FB0872-87BE-0D48-D884-7D07E3DA337F}"/>
              </a:ext>
            </a:extLst>
          </p:cNvPr>
          <p:cNvSpPr txBox="1"/>
          <p:nvPr/>
        </p:nvSpPr>
        <p:spPr>
          <a:xfrm>
            <a:off x="0" y="83976"/>
            <a:ext cx="12315329" cy="707886"/>
          </a:xfrm>
          <a:prstGeom prst="rect">
            <a:avLst/>
          </a:prstGeom>
          <a:noFill/>
        </p:spPr>
        <p:txBody>
          <a:bodyPr wrap="square" rtlCol="0">
            <a:spAutoFit/>
          </a:bodyPr>
          <a:lstStyle/>
          <a:p>
            <a:r>
              <a:rPr lang="en-IN" sz="4000" b="1" u="sng" dirty="0">
                <a:highlight>
                  <a:srgbClr val="FFFF00"/>
                </a:highlight>
              </a:rPr>
              <a:t>Accenture One-Shot Coding Preparation</a:t>
            </a:r>
          </a:p>
        </p:txBody>
      </p:sp>
      <p:sp>
        <p:nvSpPr>
          <p:cNvPr id="9" name="TextBox 8">
            <a:extLst>
              <a:ext uri="{FF2B5EF4-FFF2-40B4-BE49-F238E27FC236}">
                <a16:creationId xmlns:a16="http://schemas.microsoft.com/office/drawing/2014/main" id="{F54CFC2C-1F5B-4311-49C7-93A01DE1EEA5}"/>
              </a:ext>
            </a:extLst>
          </p:cNvPr>
          <p:cNvSpPr txBox="1"/>
          <p:nvPr/>
        </p:nvSpPr>
        <p:spPr>
          <a:xfrm>
            <a:off x="116178" y="989045"/>
            <a:ext cx="11809122" cy="3693319"/>
          </a:xfrm>
          <a:prstGeom prst="rect">
            <a:avLst/>
          </a:prstGeom>
          <a:noFill/>
        </p:spPr>
        <p:txBody>
          <a:bodyPr wrap="square">
            <a:spAutoFit/>
          </a:bodyPr>
          <a:lstStyle/>
          <a:p>
            <a:r>
              <a:rPr lang="en-IN" dirty="0"/>
              <a:t>Q2. </a:t>
            </a:r>
            <a:r>
              <a:rPr lang="en-IN" sz="1800" dirty="0"/>
              <a:t>Floyd's Triangle Pattern</a:t>
            </a:r>
          </a:p>
          <a:p>
            <a:r>
              <a:rPr lang="en-US" sz="1800" dirty="0"/>
              <a:t>You have been given an integer N as input your task is to write a program to print N rows of Floyd's Triangle pattern. Floyd's Triangle is a right-angled triangular array of natural numbers, used for the numbering of lines in a printout.</a:t>
            </a:r>
            <a:endParaRPr lang="en-IN" sz="1800" dirty="0"/>
          </a:p>
          <a:p>
            <a:endParaRPr lang="en-IN" sz="1800" dirty="0"/>
          </a:p>
          <a:p>
            <a:r>
              <a:rPr lang="en-IN" sz="1800" dirty="0"/>
              <a:t>For N = 4</a:t>
            </a:r>
          </a:p>
          <a:p>
            <a:endParaRPr lang="en-IN" sz="1800" dirty="0"/>
          </a:p>
          <a:p>
            <a:r>
              <a:rPr lang="en-IN" sz="1800" dirty="0"/>
              <a:t>1</a:t>
            </a:r>
          </a:p>
          <a:p>
            <a:r>
              <a:rPr lang="en-IN" sz="1800" dirty="0"/>
              <a:t>2 3</a:t>
            </a:r>
          </a:p>
          <a:p>
            <a:r>
              <a:rPr lang="en-IN" sz="1800" dirty="0"/>
              <a:t>4 5 6</a:t>
            </a:r>
          </a:p>
          <a:p>
            <a:r>
              <a:rPr lang="en-IN" sz="1800" dirty="0"/>
              <a:t>7 8 9 10 </a:t>
            </a:r>
          </a:p>
          <a:p>
            <a:endParaRPr lang="en-IN" sz="1800" dirty="0"/>
          </a:p>
          <a:p>
            <a:r>
              <a:rPr lang="en-IN" sz="1800" dirty="0"/>
              <a:t> </a:t>
            </a:r>
          </a:p>
          <a:p>
            <a:endParaRPr lang="en-IN" dirty="0"/>
          </a:p>
        </p:txBody>
      </p:sp>
    </p:spTree>
    <p:extLst>
      <p:ext uri="{BB962C8B-B14F-4D97-AF65-F5344CB8AC3E}">
        <p14:creationId xmlns:p14="http://schemas.microsoft.com/office/powerpoint/2010/main" val="2333320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6360" y="83976"/>
            <a:ext cx="909462" cy="905069"/>
          </a:xfrm>
          <a:prstGeom prst="rect">
            <a:avLst/>
          </a:prstGeom>
        </p:spPr>
      </p:pic>
      <p:sp>
        <p:nvSpPr>
          <p:cNvPr id="3" name="TextBox 2">
            <a:extLst>
              <a:ext uri="{FF2B5EF4-FFF2-40B4-BE49-F238E27FC236}">
                <a16:creationId xmlns:a16="http://schemas.microsoft.com/office/drawing/2014/main" id="{C0FB0872-87BE-0D48-D884-7D07E3DA337F}"/>
              </a:ext>
            </a:extLst>
          </p:cNvPr>
          <p:cNvSpPr txBox="1"/>
          <p:nvPr/>
        </p:nvSpPr>
        <p:spPr>
          <a:xfrm>
            <a:off x="0" y="83976"/>
            <a:ext cx="12315329" cy="707886"/>
          </a:xfrm>
          <a:prstGeom prst="rect">
            <a:avLst/>
          </a:prstGeom>
          <a:noFill/>
        </p:spPr>
        <p:txBody>
          <a:bodyPr wrap="square" rtlCol="0">
            <a:spAutoFit/>
          </a:bodyPr>
          <a:lstStyle/>
          <a:p>
            <a:r>
              <a:rPr lang="en-IN" sz="4000" b="1" u="sng" dirty="0">
                <a:highlight>
                  <a:srgbClr val="FFFF00"/>
                </a:highlight>
              </a:rPr>
              <a:t>Accenture One-Shot Coding Preparation</a:t>
            </a:r>
          </a:p>
        </p:txBody>
      </p:sp>
      <p:sp>
        <p:nvSpPr>
          <p:cNvPr id="9" name="TextBox 8">
            <a:extLst>
              <a:ext uri="{FF2B5EF4-FFF2-40B4-BE49-F238E27FC236}">
                <a16:creationId xmlns:a16="http://schemas.microsoft.com/office/drawing/2014/main" id="{F54CFC2C-1F5B-4311-49C7-93A01DE1EEA5}"/>
              </a:ext>
            </a:extLst>
          </p:cNvPr>
          <p:cNvSpPr txBox="1"/>
          <p:nvPr/>
        </p:nvSpPr>
        <p:spPr>
          <a:xfrm>
            <a:off x="78078" y="1225689"/>
            <a:ext cx="11809122" cy="5632311"/>
          </a:xfrm>
          <a:prstGeom prst="rect">
            <a:avLst/>
          </a:prstGeom>
          <a:noFill/>
        </p:spPr>
        <p:txBody>
          <a:bodyPr wrap="square">
            <a:spAutoFit/>
          </a:bodyPr>
          <a:lstStyle/>
          <a:p>
            <a:r>
              <a:rPr lang="en-IN" dirty="0"/>
              <a:t>﻿Q3. Problem Statement: Sum of leaders of an Array</a:t>
            </a:r>
          </a:p>
          <a:p>
            <a:r>
              <a:rPr lang="en-IN" dirty="0"/>
              <a:t>Implement the following function:</a:t>
            </a:r>
          </a:p>
          <a:p>
            <a:r>
              <a:rPr lang="en-IN" dirty="0"/>
              <a:t>int SumOfLeaders (int arr[], int n);</a:t>
            </a:r>
          </a:p>
          <a:p>
            <a:endParaRPr lang="en-IN" dirty="0"/>
          </a:p>
          <a:p>
            <a:r>
              <a:rPr lang="en-IN" dirty="0"/>
              <a:t>The function accepts a positive integer array 'arr' of size 'n' as its argument. Implement the function to find the leaders in the array and return their sum. An element is leader in the array if it greater than all the elements to its right side. The rightmost element is always a leader. </a:t>
            </a:r>
          </a:p>
          <a:p>
            <a:r>
              <a:rPr lang="en-IN" dirty="0"/>
              <a:t>Assumption: 'arr' contains distinct elements.</a:t>
            </a:r>
          </a:p>
          <a:p>
            <a:r>
              <a:rPr lang="en-IN" dirty="0"/>
              <a:t>Note:</a:t>
            </a:r>
          </a:p>
          <a:p>
            <a:pPr marL="342900" indent="-342900">
              <a:buFont typeface="Arial" panose="020B0604020202020204" pitchFamily="34" charset="0"/>
              <a:buChar char="•"/>
            </a:pPr>
            <a:r>
              <a:rPr lang="en-IN" dirty="0"/>
              <a:t>If 'arr' is empty or None (in case of python), return -1 </a:t>
            </a:r>
          </a:p>
          <a:p>
            <a:pPr marL="342900" indent="-342900">
              <a:buFont typeface="Arial" panose="020B0604020202020204" pitchFamily="34" charset="0"/>
              <a:buChar char="•"/>
            </a:pPr>
            <a:r>
              <a:rPr lang="en-IN" dirty="0"/>
              <a:t>Output lies within integer r</a:t>
            </a:r>
          </a:p>
          <a:p>
            <a:endParaRPr lang="en-IN" dirty="0"/>
          </a:p>
          <a:p>
            <a:r>
              <a:rPr lang="en-IN" dirty="0"/>
              <a:t>Input:</a:t>
            </a:r>
          </a:p>
          <a:p>
            <a:r>
              <a:rPr lang="en-IN" dirty="0"/>
              <a:t>arr: 52 66 64 36 45 24 32</a:t>
            </a:r>
          </a:p>
          <a:p>
            <a:r>
              <a:rPr lang="en-IN" dirty="0"/>
              <a:t>Output:</a:t>
            </a:r>
          </a:p>
          <a:p>
            <a:r>
              <a:rPr lang="en-IN" dirty="0"/>
              <a:t>207</a:t>
            </a:r>
          </a:p>
          <a:p>
            <a:r>
              <a:rPr lang="en-IN" dirty="0"/>
              <a:t>Explanation:</a:t>
            </a:r>
          </a:p>
          <a:p>
            <a:r>
              <a:rPr lang="en-IN" dirty="0"/>
              <a:t>Leaders of array are {66, 64, 45, 32). Sum</a:t>
            </a:r>
          </a:p>
          <a:p>
            <a:r>
              <a:rPr lang="en-IN" dirty="0"/>
              <a:t>= 66+64 +45 + 32 = 207. Thus, output is 207.</a:t>
            </a:r>
          </a:p>
          <a:p>
            <a:endParaRPr lang="en-IN" dirty="0"/>
          </a:p>
        </p:txBody>
      </p:sp>
    </p:spTree>
    <p:extLst>
      <p:ext uri="{BB962C8B-B14F-4D97-AF65-F5344CB8AC3E}">
        <p14:creationId xmlns:p14="http://schemas.microsoft.com/office/powerpoint/2010/main" val="627604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6360" y="83976"/>
            <a:ext cx="909462" cy="905069"/>
          </a:xfrm>
          <a:prstGeom prst="rect">
            <a:avLst/>
          </a:prstGeom>
        </p:spPr>
      </p:pic>
      <p:sp>
        <p:nvSpPr>
          <p:cNvPr id="3" name="TextBox 2">
            <a:extLst>
              <a:ext uri="{FF2B5EF4-FFF2-40B4-BE49-F238E27FC236}">
                <a16:creationId xmlns:a16="http://schemas.microsoft.com/office/drawing/2014/main" id="{C0FB0872-87BE-0D48-D884-7D07E3DA337F}"/>
              </a:ext>
            </a:extLst>
          </p:cNvPr>
          <p:cNvSpPr txBox="1"/>
          <p:nvPr/>
        </p:nvSpPr>
        <p:spPr>
          <a:xfrm>
            <a:off x="0" y="83976"/>
            <a:ext cx="12315329" cy="707886"/>
          </a:xfrm>
          <a:prstGeom prst="rect">
            <a:avLst/>
          </a:prstGeom>
          <a:noFill/>
        </p:spPr>
        <p:txBody>
          <a:bodyPr wrap="square" rtlCol="0">
            <a:spAutoFit/>
          </a:bodyPr>
          <a:lstStyle/>
          <a:p>
            <a:r>
              <a:rPr lang="en-IN" sz="4000" b="1" u="sng" dirty="0">
                <a:highlight>
                  <a:srgbClr val="FFFF00"/>
                </a:highlight>
              </a:rPr>
              <a:t>Accenture One-Shot Coding Preparation</a:t>
            </a:r>
          </a:p>
        </p:txBody>
      </p:sp>
      <p:sp>
        <p:nvSpPr>
          <p:cNvPr id="9" name="TextBox 8">
            <a:extLst>
              <a:ext uri="{FF2B5EF4-FFF2-40B4-BE49-F238E27FC236}">
                <a16:creationId xmlns:a16="http://schemas.microsoft.com/office/drawing/2014/main" id="{F54CFC2C-1F5B-4311-49C7-93A01DE1EEA5}"/>
              </a:ext>
            </a:extLst>
          </p:cNvPr>
          <p:cNvSpPr txBox="1"/>
          <p:nvPr/>
        </p:nvSpPr>
        <p:spPr>
          <a:xfrm>
            <a:off x="116178" y="989045"/>
            <a:ext cx="11809122" cy="2862322"/>
          </a:xfrm>
          <a:prstGeom prst="rect">
            <a:avLst/>
          </a:prstGeom>
          <a:noFill/>
        </p:spPr>
        <p:txBody>
          <a:bodyPr wrap="square">
            <a:spAutoFit/>
          </a:bodyPr>
          <a:lstStyle/>
          <a:p>
            <a:r>
              <a:rPr lang="en-IN" dirty="0"/>
              <a:t>Q4.</a:t>
            </a:r>
            <a:r>
              <a:rPr lang="en-US" sz="1800" dirty="0"/>
              <a:t> Rohan is a kid who has just learned about creating words from alphabets. He has written some words in the notepad of his father's laptop. Now his father wants to find the longest word written by Rohan using a computer program. Write a program to find the longest string in a given list of strings.</a:t>
            </a:r>
          </a:p>
          <a:p>
            <a:endParaRPr lang="en-US" sz="1800" dirty="0"/>
          </a:p>
          <a:p>
            <a:r>
              <a:rPr lang="en-US" sz="1800" dirty="0"/>
              <a:t>Example:</a:t>
            </a:r>
          </a:p>
          <a:p>
            <a:r>
              <a:rPr lang="en-US" sz="1800" dirty="0"/>
              <a:t>Input: yes no number</a:t>
            </a:r>
          </a:p>
          <a:p>
            <a:r>
              <a:rPr lang="en-US" sz="1800" dirty="0"/>
              <a:t>Output: The longest string is: number</a:t>
            </a:r>
          </a:p>
          <a:p>
            <a:endParaRPr lang="en-IN" sz="1800" dirty="0"/>
          </a:p>
          <a:p>
            <a:endParaRPr lang="en-IN" dirty="0"/>
          </a:p>
          <a:p>
            <a:endParaRPr lang="en-IN" dirty="0"/>
          </a:p>
        </p:txBody>
      </p:sp>
    </p:spTree>
    <p:extLst>
      <p:ext uri="{BB962C8B-B14F-4D97-AF65-F5344CB8AC3E}">
        <p14:creationId xmlns:p14="http://schemas.microsoft.com/office/powerpoint/2010/main" val="1996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6360" y="83976"/>
            <a:ext cx="909462" cy="905069"/>
          </a:xfrm>
          <a:prstGeom prst="rect">
            <a:avLst/>
          </a:prstGeom>
        </p:spPr>
      </p:pic>
      <p:sp>
        <p:nvSpPr>
          <p:cNvPr id="3" name="TextBox 2">
            <a:extLst>
              <a:ext uri="{FF2B5EF4-FFF2-40B4-BE49-F238E27FC236}">
                <a16:creationId xmlns:a16="http://schemas.microsoft.com/office/drawing/2014/main" id="{C0FB0872-87BE-0D48-D884-7D07E3DA337F}"/>
              </a:ext>
            </a:extLst>
          </p:cNvPr>
          <p:cNvSpPr txBox="1"/>
          <p:nvPr/>
        </p:nvSpPr>
        <p:spPr>
          <a:xfrm>
            <a:off x="0" y="83976"/>
            <a:ext cx="12315329" cy="707886"/>
          </a:xfrm>
          <a:prstGeom prst="rect">
            <a:avLst/>
          </a:prstGeom>
          <a:noFill/>
        </p:spPr>
        <p:txBody>
          <a:bodyPr wrap="square" rtlCol="0">
            <a:spAutoFit/>
          </a:bodyPr>
          <a:lstStyle/>
          <a:p>
            <a:r>
              <a:rPr lang="en-IN" sz="4000" b="1" u="sng" dirty="0">
                <a:highlight>
                  <a:srgbClr val="FFFF00"/>
                </a:highlight>
              </a:rPr>
              <a:t>Accenture One-Shot Coding Preparation</a:t>
            </a:r>
          </a:p>
        </p:txBody>
      </p:sp>
      <p:sp>
        <p:nvSpPr>
          <p:cNvPr id="9" name="TextBox 8">
            <a:extLst>
              <a:ext uri="{FF2B5EF4-FFF2-40B4-BE49-F238E27FC236}">
                <a16:creationId xmlns:a16="http://schemas.microsoft.com/office/drawing/2014/main" id="{F54CFC2C-1F5B-4311-49C7-93A01DE1EEA5}"/>
              </a:ext>
            </a:extLst>
          </p:cNvPr>
          <p:cNvSpPr txBox="1"/>
          <p:nvPr/>
        </p:nvSpPr>
        <p:spPr>
          <a:xfrm>
            <a:off x="116178" y="989045"/>
            <a:ext cx="11809122" cy="5632311"/>
          </a:xfrm>
          <a:prstGeom prst="rect">
            <a:avLst/>
          </a:prstGeom>
          <a:noFill/>
        </p:spPr>
        <p:txBody>
          <a:bodyPr wrap="square">
            <a:spAutoFit/>
          </a:bodyPr>
          <a:lstStyle/>
          <a:p>
            <a:r>
              <a:rPr lang="en-IN" dirty="0"/>
              <a:t>Q5. Minimum Number of Integers</a:t>
            </a:r>
          </a:p>
          <a:p>
            <a:r>
              <a:rPr lang="en-IN" dirty="0"/>
              <a:t>You are given a function,</a:t>
            </a:r>
          </a:p>
          <a:p>
            <a:r>
              <a:rPr lang="en-IN" dirty="0"/>
              <a:t>int MinimumNumberOfIntegers (int* arr, int n, int x, int y);</a:t>
            </a:r>
          </a:p>
          <a:p>
            <a:endParaRPr lang="en-IN" dirty="0"/>
          </a:p>
          <a:p>
            <a:r>
              <a:rPr lang="en-IN" dirty="0"/>
              <a:t>The function accepts an integer array 'arr' of length 'n', an integer 'x' and an integer 'y' as its arguments. Implement the function to count minimum number of integers present between 'x' and 'y' in the given array 'arr' and return the same. Assumption:</a:t>
            </a:r>
          </a:p>
          <a:p>
            <a:pPr marL="285750" indent="-285750">
              <a:buFont typeface="Arial" panose="020B0604020202020204" pitchFamily="34" charset="0"/>
              <a:buChar char="•"/>
            </a:pPr>
            <a:r>
              <a:rPr lang="en-IN" dirty="0"/>
              <a:t> n&gt; 1</a:t>
            </a:r>
          </a:p>
          <a:p>
            <a:pPr marL="285750" indent="-285750">
              <a:buFont typeface="Arial" panose="020B0604020202020204" pitchFamily="34" charset="0"/>
              <a:buChar char="•"/>
            </a:pPr>
            <a:r>
              <a:rPr lang="en-IN" dirty="0"/>
              <a:t>Values of 'x' and 'y' are distinct</a:t>
            </a:r>
          </a:p>
          <a:p>
            <a:pPr marL="285750" indent="-285750">
              <a:buFont typeface="Arial" panose="020B0604020202020204" pitchFamily="34" charset="0"/>
              <a:buChar char="•"/>
            </a:pPr>
            <a:r>
              <a:rPr lang="en-IN" dirty="0"/>
              <a:t> If 'x' or 'y' or both are not present in the given array 'arr', return -1</a:t>
            </a:r>
          </a:p>
          <a:p>
            <a:endParaRPr lang="en-IN" dirty="0"/>
          </a:p>
          <a:p>
            <a:r>
              <a:rPr lang="en-IN" dirty="0"/>
              <a:t>Example:</a:t>
            </a:r>
          </a:p>
          <a:p>
            <a:r>
              <a:rPr lang="en-IN" dirty="0"/>
              <a:t>Input:</a:t>
            </a:r>
          </a:p>
          <a:p>
            <a:r>
              <a:rPr lang="en-IN" dirty="0"/>
              <a:t>x: 3</a:t>
            </a:r>
          </a:p>
          <a:p>
            <a:r>
              <a:rPr lang="en-IN" dirty="0"/>
              <a:t>y: 6</a:t>
            </a:r>
          </a:p>
          <a:p>
            <a:r>
              <a:rPr lang="en-IN" dirty="0"/>
              <a:t>arr: 10 3 2 4 5 6 9 7 3</a:t>
            </a:r>
          </a:p>
          <a:p>
            <a:r>
              <a:rPr lang="en-IN" dirty="0"/>
              <a:t>Output:</a:t>
            </a:r>
          </a:p>
          <a:p>
            <a:r>
              <a:rPr lang="en-IN" dirty="0"/>
              <a:t>2</a:t>
            </a:r>
          </a:p>
          <a:p>
            <a:r>
              <a:rPr lang="en-IN" dirty="0"/>
              <a:t>Explanation:</a:t>
            </a:r>
          </a:p>
          <a:p>
            <a:r>
              <a:rPr lang="en-IN" dirty="0"/>
              <a:t>The count of minimum number of integers between '3' and '6' is 2 (i.e. 9 and 7).</a:t>
            </a:r>
          </a:p>
        </p:txBody>
      </p:sp>
    </p:spTree>
    <p:extLst>
      <p:ext uri="{BB962C8B-B14F-4D97-AF65-F5344CB8AC3E}">
        <p14:creationId xmlns:p14="http://schemas.microsoft.com/office/powerpoint/2010/main" val="2815034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TotalTime>
  <Words>725</Words>
  <Application>Microsoft Office PowerPoint</Application>
  <PresentationFormat>Widescreen</PresentationFormat>
  <Paragraphs>91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TRICKS to Solve TCS Previous Year Questions</dc:title>
  <dc:creator>Monika Bagora</dc:creator>
  <cp:lastModifiedBy>Lokesh</cp:lastModifiedBy>
  <cp:revision>23</cp:revision>
  <dcterms:created xsi:type="dcterms:W3CDTF">2021-12-23T07:45:00Z</dcterms:created>
  <dcterms:modified xsi:type="dcterms:W3CDTF">2024-08-04T13:34:22Z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6A7D4394817948B7B0568DC5921EF755_13</vt:lpwstr>
  </property>
  <property fmtid="{D5CDD505-2E9C-101B-9397-08002B2CF9AE}" pid="3" name="KSOProductBuildVer">
    <vt:lpwstr>1033-12.2.0.16731</vt:lpwstr>
  </property>
</Properties>
</file>