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63" r:id="rId2"/>
    <p:sldId id="264" r:id="rId3"/>
    <p:sldId id="265" r:id="rId4"/>
    <p:sldId id="266" r:id="rId5"/>
    <p:sldId id="267" r:id="rId6"/>
    <p:sldId id="268" r:id="rId7"/>
    <p:sldId id="269" r:id="rId8"/>
    <p:sldId id="270" r:id="rId9"/>
    <p:sldId id="271" r:id="rId10"/>
    <p:sldId id="272" r:id="rId11"/>
    <p:sldId id="273" r:id="rId12"/>
    <p:sldId id="274" r:id="rId13"/>
    <p:sldId id="275" r:id="rId14"/>
    <p:sldId id="276" r:id="rId15"/>
    <p:sldId id="277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>
      <p:cViewPr varScale="1">
        <p:scale>
          <a:sx n="82" d="100"/>
          <a:sy n="82" d="100"/>
        </p:scale>
        <p:origin x="67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3-14T07:59:0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24575,'0'0'-8191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3-14T07:59:0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24575,'0'0'-8191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3-14T07:59:0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24575,'0'0'-8191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3-14T07:59:0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24575,'0'0'-8191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3-14T07:59:0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24575,'0'0'-8191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3-14T07:59:0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24575,'0'0'-8191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3-14T07:59:0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24575,'0'0'-8191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3-14T07:59:0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24575,'0'0'-8191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3-14T07:59:0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24575,'0'0'-8191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3-14T07:59:0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24575,'0'0'-8191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3-14T07:59:0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24575,'0'0'-8191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3-14T07:59:0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24575,'0'0'-8191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3-14T07:59:0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24575,'0'0'-8191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3-14T07:59:0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24575,'0'0'-8191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3-14T07:59:0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24575,'0'0'-8191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7/31/2024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7/31/2024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7/31/2024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7/31/2024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7/31/2024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7/31/2024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7/31/2024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7/31/2024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7/31/2024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7/31/2024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7/31/2024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  <a:t>7/31/2024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ustomXml" Target="../ink/ink3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ustomXml" Target="../ink/ink4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ustomXml" Target="../ink/ink5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ustomXml" Target="../ink/ink6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ustomXml" Target="../ink/ink7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ustomXml" Target="../ink/ink8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ustomXml" Target="../ink/ink9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ustomXml" Target="../ink/ink10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ustomXml" Target="../ink/ink1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ustomXml" Target="../ink/ink12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ustomXml" Target="../ink/ink13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ustomXml" Target="../ink/ink14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ustomXml" Target="../ink/ink15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66360" y="83976"/>
            <a:ext cx="909462" cy="905069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/>
              <p14:cNvContentPartPr/>
              <p14:nvPr/>
            </p14:nvContentPartPr>
            <p14:xfrm>
              <a:off x="9041973" y="3420413"/>
              <a:ext cx="360" cy="36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032973" y="3411413"/>
                <a:ext cx="18000" cy="18000"/>
              </a:xfrm>
              <a:prstGeom prst="rect">
                <a:avLst/>
              </a:prstGeom>
            </p:spPr>
          </p:pic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C0FB0872-87BE-0D48-D884-7D07E3DA337F}"/>
              </a:ext>
            </a:extLst>
          </p:cNvPr>
          <p:cNvSpPr txBox="1"/>
          <p:nvPr/>
        </p:nvSpPr>
        <p:spPr>
          <a:xfrm>
            <a:off x="0" y="83976"/>
            <a:ext cx="1231532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u="sng" dirty="0">
                <a:highlight>
                  <a:srgbClr val="FFFF00"/>
                </a:highlight>
              </a:rPr>
              <a:t>Accenture Actual Pseudo Codes &amp; Solutions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131CFE2-F6EE-7E50-6A10-49EF26A6E79A}"/>
              </a:ext>
            </a:extLst>
          </p:cNvPr>
          <p:cNvSpPr txBox="1"/>
          <p:nvPr/>
        </p:nvSpPr>
        <p:spPr>
          <a:xfrm>
            <a:off x="174794" y="4638524"/>
            <a:ext cx="6757851" cy="16555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US" sz="24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3</a:t>
            </a:r>
            <a:r>
              <a:rPr lang="en-IN" sz="24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IN" sz="2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28</a:t>
            </a: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IN" sz="24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21</a:t>
            </a: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IN" sz="2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24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F66FD50-801C-4A2C-C354-B2149A6E60C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4794" y="1183719"/>
            <a:ext cx="9864945" cy="3062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09515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66360" y="83976"/>
            <a:ext cx="909462" cy="905069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/>
              <p14:cNvContentPartPr/>
              <p14:nvPr/>
            </p14:nvContentPartPr>
            <p14:xfrm>
              <a:off x="9041973" y="3420413"/>
              <a:ext cx="360" cy="36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032973" y="3411413"/>
                <a:ext cx="18000" cy="18000"/>
              </a:xfrm>
              <a:prstGeom prst="rect">
                <a:avLst/>
              </a:prstGeom>
            </p:spPr>
          </p:pic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6E40030B-12C7-8ACC-CDF6-1FA797B3F2D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5391" y="989045"/>
            <a:ext cx="10991865" cy="311642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D225E35-BE35-4601-0B32-57EB49ABF1DA}"/>
              </a:ext>
            </a:extLst>
          </p:cNvPr>
          <p:cNvSpPr txBox="1"/>
          <p:nvPr/>
        </p:nvSpPr>
        <p:spPr>
          <a:xfrm>
            <a:off x="0" y="83976"/>
            <a:ext cx="1231532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u="sng" dirty="0">
                <a:highlight>
                  <a:srgbClr val="FFFF00"/>
                </a:highlight>
              </a:rPr>
              <a:t>Accenture Actual Pseudo Codes &amp; Solutions</a:t>
            </a:r>
          </a:p>
        </p:txBody>
      </p:sp>
    </p:spTree>
    <p:extLst>
      <p:ext uri="{BB962C8B-B14F-4D97-AF65-F5344CB8AC3E}">
        <p14:creationId xmlns:p14="http://schemas.microsoft.com/office/powerpoint/2010/main" val="19527008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66360" y="83976"/>
            <a:ext cx="909462" cy="905069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/>
              <p14:cNvContentPartPr/>
              <p14:nvPr/>
            </p14:nvContentPartPr>
            <p14:xfrm>
              <a:off x="9041973" y="3420413"/>
              <a:ext cx="360" cy="36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032973" y="3411413"/>
                <a:ext cx="18000" cy="18000"/>
              </a:xfrm>
              <a:prstGeom prst="rect">
                <a:avLst/>
              </a:prstGeom>
            </p:spPr>
          </p:pic>
        </mc:Fallback>
      </mc:AlternateContent>
      <p:pic>
        <p:nvPicPr>
          <p:cNvPr id="11" name="Picture 10">
            <a:extLst>
              <a:ext uri="{FF2B5EF4-FFF2-40B4-BE49-F238E27FC236}">
                <a16:creationId xmlns:a16="http://schemas.microsoft.com/office/drawing/2014/main" id="{C36F2220-E268-F083-C443-65A3ADEC6EB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5928" y="989045"/>
            <a:ext cx="9059539" cy="259116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B48AFDA-F7AE-A131-BD9C-4F6676519D0F}"/>
              </a:ext>
            </a:extLst>
          </p:cNvPr>
          <p:cNvSpPr txBox="1"/>
          <p:nvPr/>
        </p:nvSpPr>
        <p:spPr>
          <a:xfrm>
            <a:off x="174794" y="4638524"/>
            <a:ext cx="6757851" cy="16555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US" sz="24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4</a:t>
            </a: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US" sz="2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21</a:t>
            </a: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US" sz="24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-15</a:t>
            </a: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US" sz="2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469A817-6321-91B5-E9A4-F8A7BE1E0757}"/>
              </a:ext>
            </a:extLst>
          </p:cNvPr>
          <p:cNvSpPr txBox="1"/>
          <p:nvPr/>
        </p:nvSpPr>
        <p:spPr>
          <a:xfrm>
            <a:off x="0" y="83976"/>
            <a:ext cx="1231532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u="sng" dirty="0">
                <a:highlight>
                  <a:srgbClr val="FFFF00"/>
                </a:highlight>
              </a:rPr>
              <a:t>Accenture Actual Pseudo Codes &amp; Solutions</a:t>
            </a:r>
          </a:p>
        </p:txBody>
      </p:sp>
    </p:spTree>
    <p:extLst>
      <p:ext uri="{BB962C8B-B14F-4D97-AF65-F5344CB8AC3E}">
        <p14:creationId xmlns:p14="http://schemas.microsoft.com/office/powerpoint/2010/main" val="9397071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66360" y="83976"/>
            <a:ext cx="909462" cy="905069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/>
              <p14:cNvContentPartPr/>
              <p14:nvPr/>
            </p14:nvContentPartPr>
            <p14:xfrm>
              <a:off x="9041973" y="3420413"/>
              <a:ext cx="360" cy="36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032973" y="3411413"/>
                <a:ext cx="18000" cy="18000"/>
              </a:xfrm>
              <a:prstGeom prst="rect">
                <a:avLst/>
              </a:prstGeom>
            </p:spPr>
          </p:pic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DB7111CE-FE15-212C-AC89-347A3BA90E5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3610" y="1083039"/>
            <a:ext cx="10043552" cy="313439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8B3FCAE-756F-D019-5B73-B207B0852042}"/>
              </a:ext>
            </a:extLst>
          </p:cNvPr>
          <p:cNvSpPr txBox="1"/>
          <p:nvPr/>
        </p:nvSpPr>
        <p:spPr>
          <a:xfrm>
            <a:off x="0" y="83976"/>
            <a:ext cx="1231532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u="sng" dirty="0">
                <a:highlight>
                  <a:srgbClr val="FFFF00"/>
                </a:highlight>
              </a:rPr>
              <a:t>Accenture Actual Pseudo Codes &amp; Solutions</a:t>
            </a:r>
          </a:p>
        </p:txBody>
      </p:sp>
    </p:spTree>
    <p:extLst>
      <p:ext uri="{BB962C8B-B14F-4D97-AF65-F5344CB8AC3E}">
        <p14:creationId xmlns:p14="http://schemas.microsoft.com/office/powerpoint/2010/main" val="17917135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66360" y="83976"/>
            <a:ext cx="909462" cy="905069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/>
              <p14:cNvContentPartPr/>
              <p14:nvPr/>
            </p14:nvContentPartPr>
            <p14:xfrm>
              <a:off x="9041973" y="3420413"/>
              <a:ext cx="360" cy="36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032973" y="3411413"/>
                <a:ext cx="18000" cy="18000"/>
              </a:xfrm>
              <a:prstGeom prst="rect">
                <a:avLst/>
              </a:prstGeom>
            </p:spPr>
          </p:pic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A041C75A-7468-A578-814E-EF1C4246C12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7810" y="1141243"/>
            <a:ext cx="10240804" cy="289600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A52AA28-D9A4-DF2B-92A1-6C183D494517}"/>
              </a:ext>
            </a:extLst>
          </p:cNvPr>
          <p:cNvSpPr txBox="1"/>
          <p:nvPr/>
        </p:nvSpPr>
        <p:spPr>
          <a:xfrm>
            <a:off x="174794" y="4638524"/>
            <a:ext cx="6757851" cy="16555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US" sz="24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10</a:t>
            </a: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US" sz="2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13</a:t>
            </a: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US" sz="24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0</a:t>
            </a: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US" sz="2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7E92739-DBAA-8239-87C3-3669C409F846}"/>
              </a:ext>
            </a:extLst>
          </p:cNvPr>
          <p:cNvSpPr txBox="1"/>
          <p:nvPr/>
        </p:nvSpPr>
        <p:spPr>
          <a:xfrm>
            <a:off x="0" y="83976"/>
            <a:ext cx="1231532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u="sng" dirty="0">
                <a:highlight>
                  <a:srgbClr val="FFFF00"/>
                </a:highlight>
              </a:rPr>
              <a:t>Accenture Actual Pseudo Codes &amp; Solutions</a:t>
            </a:r>
          </a:p>
        </p:txBody>
      </p:sp>
    </p:spTree>
    <p:extLst>
      <p:ext uri="{BB962C8B-B14F-4D97-AF65-F5344CB8AC3E}">
        <p14:creationId xmlns:p14="http://schemas.microsoft.com/office/powerpoint/2010/main" val="35035665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66360" y="83976"/>
            <a:ext cx="909462" cy="905069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/>
              <p14:cNvContentPartPr/>
              <p14:nvPr/>
            </p14:nvContentPartPr>
            <p14:xfrm>
              <a:off x="9041973" y="3420413"/>
              <a:ext cx="360" cy="36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032973" y="3411413"/>
                <a:ext cx="18000" cy="18000"/>
              </a:xfrm>
              <a:prstGeom prst="rect">
                <a:avLst/>
              </a:prstGeom>
            </p:spPr>
          </p:pic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B5E081E5-78CC-7D67-DCA6-5393FFBF1CA7}"/>
              </a:ext>
            </a:extLst>
          </p:cNvPr>
          <p:cNvSpPr txBox="1"/>
          <p:nvPr/>
        </p:nvSpPr>
        <p:spPr>
          <a:xfrm>
            <a:off x="174794" y="4638524"/>
            <a:ext cx="6757851" cy="16555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US" sz="24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-18</a:t>
            </a: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US" sz="2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-17</a:t>
            </a: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US" sz="24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-9</a:t>
            </a: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US" sz="2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-20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C7BA892-C7BE-A227-32AB-51C8478355A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4793" y="1258494"/>
            <a:ext cx="10094641" cy="258571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5D941A1-3F75-CF61-9DAE-4C66737A852A}"/>
              </a:ext>
            </a:extLst>
          </p:cNvPr>
          <p:cNvSpPr txBox="1"/>
          <p:nvPr/>
        </p:nvSpPr>
        <p:spPr>
          <a:xfrm>
            <a:off x="0" y="83976"/>
            <a:ext cx="1231532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u="sng" dirty="0">
                <a:highlight>
                  <a:srgbClr val="FFFF00"/>
                </a:highlight>
              </a:rPr>
              <a:t>Accenture Actual Pseudo Codes &amp; Solutions</a:t>
            </a:r>
          </a:p>
        </p:txBody>
      </p:sp>
    </p:spTree>
    <p:extLst>
      <p:ext uri="{BB962C8B-B14F-4D97-AF65-F5344CB8AC3E}">
        <p14:creationId xmlns:p14="http://schemas.microsoft.com/office/powerpoint/2010/main" val="14802495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66360" y="83976"/>
            <a:ext cx="909462" cy="905069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/>
              <p14:cNvContentPartPr/>
              <p14:nvPr/>
            </p14:nvContentPartPr>
            <p14:xfrm>
              <a:off x="9041973" y="3420413"/>
              <a:ext cx="360" cy="36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032973" y="3411413"/>
                <a:ext cx="18000" cy="18000"/>
              </a:xfrm>
              <a:prstGeom prst="rect">
                <a:avLst/>
              </a:prstGeom>
            </p:spPr>
          </p:pic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B5E081E5-78CC-7D67-DCA6-5393FFBF1CA7}"/>
              </a:ext>
            </a:extLst>
          </p:cNvPr>
          <p:cNvSpPr txBox="1"/>
          <p:nvPr/>
        </p:nvSpPr>
        <p:spPr>
          <a:xfrm>
            <a:off x="300266" y="4891970"/>
            <a:ext cx="6757851" cy="16555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US" sz="24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23</a:t>
            </a: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US" sz="2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18</a:t>
            </a: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US" sz="24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10</a:t>
            </a: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US" sz="2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14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81522BA-BE71-EC40-DF68-0E2474BA459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0266" y="989045"/>
            <a:ext cx="7859222" cy="370574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60FC21F-0210-231E-EE4C-ABBA702FB506}"/>
              </a:ext>
            </a:extLst>
          </p:cNvPr>
          <p:cNvSpPr txBox="1"/>
          <p:nvPr/>
        </p:nvSpPr>
        <p:spPr>
          <a:xfrm>
            <a:off x="0" y="83976"/>
            <a:ext cx="1231532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u="sng" dirty="0">
                <a:highlight>
                  <a:srgbClr val="FFFF00"/>
                </a:highlight>
              </a:rPr>
              <a:t>Accenture Actual Pseudo Codes &amp; Solutions</a:t>
            </a:r>
          </a:p>
        </p:txBody>
      </p:sp>
    </p:spTree>
    <p:extLst>
      <p:ext uri="{BB962C8B-B14F-4D97-AF65-F5344CB8AC3E}">
        <p14:creationId xmlns:p14="http://schemas.microsoft.com/office/powerpoint/2010/main" val="17934626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66360" y="83976"/>
            <a:ext cx="909462" cy="905069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/>
              <p14:cNvContentPartPr/>
              <p14:nvPr/>
            </p14:nvContentPartPr>
            <p14:xfrm>
              <a:off x="9041973" y="3420413"/>
              <a:ext cx="360" cy="36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032973" y="3411413"/>
                <a:ext cx="18000" cy="18000"/>
              </a:xfrm>
              <a:prstGeom prst="rect">
                <a:avLst/>
              </a:prstGeom>
            </p:spPr>
          </p:pic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B5E081E5-78CC-7D67-DCA6-5393FFBF1CA7}"/>
              </a:ext>
            </a:extLst>
          </p:cNvPr>
          <p:cNvSpPr txBox="1"/>
          <p:nvPr/>
        </p:nvSpPr>
        <p:spPr>
          <a:xfrm>
            <a:off x="300266" y="4891970"/>
            <a:ext cx="6757851" cy="16555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US" sz="24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46</a:t>
            </a: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US" sz="2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35</a:t>
            </a: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US" sz="24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13</a:t>
            </a: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US" sz="2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27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DEC8202-E7E3-64FF-C338-F5EA0DA70DB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2161" y="989045"/>
            <a:ext cx="10238291" cy="31148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290FD53-9847-09A1-67AF-BAD8E46D6F16}"/>
              </a:ext>
            </a:extLst>
          </p:cNvPr>
          <p:cNvSpPr txBox="1"/>
          <p:nvPr/>
        </p:nvSpPr>
        <p:spPr>
          <a:xfrm>
            <a:off x="0" y="83976"/>
            <a:ext cx="1231532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u="sng" dirty="0">
                <a:highlight>
                  <a:srgbClr val="FFFF00"/>
                </a:highlight>
              </a:rPr>
              <a:t>Accenture Actual Pseudo Codes &amp; Solutions</a:t>
            </a:r>
          </a:p>
        </p:txBody>
      </p:sp>
    </p:spTree>
    <p:extLst>
      <p:ext uri="{BB962C8B-B14F-4D97-AF65-F5344CB8AC3E}">
        <p14:creationId xmlns:p14="http://schemas.microsoft.com/office/powerpoint/2010/main" val="33835097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66360" y="83976"/>
            <a:ext cx="909462" cy="905069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/>
              <p14:cNvContentPartPr/>
              <p14:nvPr/>
            </p14:nvContentPartPr>
            <p14:xfrm>
              <a:off x="9041973" y="3420413"/>
              <a:ext cx="360" cy="36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032973" y="3411413"/>
                <a:ext cx="18000" cy="18000"/>
              </a:xfrm>
              <a:prstGeom prst="rect">
                <a:avLst/>
              </a:prstGeom>
            </p:spPr>
          </p:pic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B5E081E5-78CC-7D67-DCA6-5393FFBF1CA7}"/>
              </a:ext>
            </a:extLst>
          </p:cNvPr>
          <p:cNvSpPr txBox="1"/>
          <p:nvPr/>
        </p:nvSpPr>
        <p:spPr>
          <a:xfrm>
            <a:off x="300266" y="4891970"/>
            <a:ext cx="6757851" cy="20506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US" sz="24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18</a:t>
            </a: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US" sz="2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27</a:t>
            </a: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US" sz="2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21</a:t>
            </a: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US" sz="2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14</a:t>
            </a: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endParaRPr lang="en-US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A14E8B8-3FEC-B3DD-266A-79AF267BEDF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9401" y="989045"/>
            <a:ext cx="4793947" cy="347098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9CEB240-0A44-21F6-27D1-AFAD2E46C997}"/>
              </a:ext>
            </a:extLst>
          </p:cNvPr>
          <p:cNvSpPr txBox="1"/>
          <p:nvPr/>
        </p:nvSpPr>
        <p:spPr>
          <a:xfrm>
            <a:off x="0" y="83976"/>
            <a:ext cx="1231532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u="sng" dirty="0">
                <a:highlight>
                  <a:srgbClr val="FFFF00"/>
                </a:highlight>
              </a:rPr>
              <a:t>Accenture Actual Pseudo Codes &amp; Solutions</a:t>
            </a:r>
          </a:p>
        </p:txBody>
      </p:sp>
    </p:spTree>
    <p:extLst>
      <p:ext uri="{BB962C8B-B14F-4D97-AF65-F5344CB8AC3E}">
        <p14:creationId xmlns:p14="http://schemas.microsoft.com/office/powerpoint/2010/main" val="7374836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66360" y="83976"/>
            <a:ext cx="909462" cy="905069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/>
              <p14:cNvContentPartPr/>
              <p14:nvPr/>
            </p14:nvContentPartPr>
            <p14:xfrm>
              <a:off x="9041973" y="3420413"/>
              <a:ext cx="360" cy="360"/>
            </p14:xfrm>
          </p:contentPart>
        </mc:Choice>
        <mc:Fallback>
          <p:pic>
            <p:nvPicPr>
              <p:cNvPr id="4" name="Ink 3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032973" y="3411413"/>
                <a:ext cx="18000" cy="18000"/>
              </a:xfrm>
              <a:prstGeom prst="rect">
                <a:avLst/>
              </a:prstGeom>
            </p:spPr>
          </p:pic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B5E081E5-78CC-7D67-DCA6-5393FFBF1CA7}"/>
              </a:ext>
            </a:extLst>
          </p:cNvPr>
          <p:cNvSpPr txBox="1"/>
          <p:nvPr/>
        </p:nvSpPr>
        <p:spPr>
          <a:xfrm>
            <a:off x="193251" y="4444101"/>
            <a:ext cx="6757851" cy="20506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US" sz="24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15</a:t>
            </a: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US" sz="2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18</a:t>
            </a: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US" sz="24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13</a:t>
            </a: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US" sz="2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17</a:t>
            </a: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endParaRPr lang="en-US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BD09762-36EA-C67A-52CF-F667C69F3AF8}"/>
              </a:ext>
            </a:extLst>
          </p:cNvPr>
          <p:cNvSpPr txBox="1"/>
          <p:nvPr/>
        </p:nvSpPr>
        <p:spPr>
          <a:xfrm>
            <a:off x="193251" y="1032802"/>
            <a:ext cx="8082642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Q10. Predict the output of the following pseudocode for x = 10, y = 5. </a:t>
            </a:r>
          </a:p>
          <a:p>
            <a:endParaRPr lang="en-IN" dirty="0"/>
          </a:p>
          <a:p>
            <a:r>
              <a:rPr lang="en-IN" dirty="0"/>
              <a:t>Integer solve(Integer x, Integer y) </a:t>
            </a:r>
          </a:p>
          <a:p>
            <a:r>
              <a:rPr lang="en-IN" dirty="0"/>
              <a:t>if(y &gt; 0) </a:t>
            </a:r>
          </a:p>
          <a:p>
            <a:r>
              <a:rPr lang="en-IN" dirty="0"/>
              <a:t>    if(x &gt; 0) </a:t>
            </a:r>
          </a:p>
          <a:p>
            <a:r>
              <a:rPr lang="en-IN" dirty="0"/>
              <a:t>      return x + y + solve(2, y - 5) + solve(x - 10, 1) </a:t>
            </a:r>
          </a:p>
          <a:p>
            <a:r>
              <a:rPr lang="en-IN" dirty="0"/>
              <a:t>    End if </a:t>
            </a:r>
          </a:p>
          <a:p>
            <a:r>
              <a:rPr lang="en-IN" dirty="0"/>
              <a:t>End if </a:t>
            </a:r>
          </a:p>
          <a:p>
            <a:r>
              <a:rPr lang="en-IN" dirty="0"/>
              <a:t>return x + y </a:t>
            </a:r>
          </a:p>
          <a:p>
            <a:r>
              <a:rPr lang="en-IN" dirty="0"/>
              <a:t>End function solve()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71E0E0D-9074-1673-3FDB-230C11F0F43F}"/>
              </a:ext>
            </a:extLst>
          </p:cNvPr>
          <p:cNvSpPr txBox="1"/>
          <p:nvPr/>
        </p:nvSpPr>
        <p:spPr>
          <a:xfrm>
            <a:off x="0" y="83976"/>
            <a:ext cx="1231532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u="sng" dirty="0">
                <a:highlight>
                  <a:srgbClr val="FFFF00"/>
                </a:highlight>
              </a:rPr>
              <a:t>Accenture Actual Pseudo Codes &amp; Solutions</a:t>
            </a:r>
          </a:p>
        </p:txBody>
      </p:sp>
    </p:spTree>
    <p:extLst>
      <p:ext uri="{BB962C8B-B14F-4D97-AF65-F5344CB8AC3E}">
        <p14:creationId xmlns:p14="http://schemas.microsoft.com/office/powerpoint/2010/main" val="41529167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66360" y="83976"/>
            <a:ext cx="909462" cy="905069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/>
              <p14:cNvContentPartPr/>
              <p14:nvPr/>
            </p14:nvContentPartPr>
            <p14:xfrm>
              <a:off x="9041973" y="3420413"/>
              <a:ext cx="360" cy="360"/>
            </p14:xfrm>
          </p:contentPart>
        </mc:Choice>
        <mc:Fallback>
          <p:pic>
            <p:nvPicPr>
              <p:cNvPr id="4" name="Ink 3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032973" y="3411413"/>
                <a:ext cx="18000" cy="18000"/>
              </a:xfrm>
              <a:prstGeom prst="rect">
                <a:avLst/>
              </a:prstGeom>
            </p:spPr>
          </p:pic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0BC9DAE6-E394-219D-EAE3-6405992CC35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6268" y="1510817"/>
            <a:ext cx="6820852" cy="506800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BB8834E-ABA0-8464-713E-71746CB7B843}"/>
              </a:ext>
            </a:extLst>
          </p:cNvPr>
          <p:cNvSpPr txBox="1"/>
          <p:nvPr/>
        </p:nvSpPr>
        <p:spPr>
          <a:xfrm>
            <a:off x="212272" y="966673"/>
            <a:ext cx="62655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Q11.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23EBA87-564E-BBB4-51A5-ACA67C91C0FE}"/>
              </a:ext>
            </a:extLst>
          </p:cNvPr>
          <p:cNvSpPr txBox="1"/>
          <p:nvPr/>
        </p:nvSpPr>
        <p:spPr>
          <a:xfrm>
            <a:off x="7471487" y="1645458"/>
            <a:ext cx="6265506" cy="12646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0.0</a:t>
            </a: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9.0</a:t>
            </a: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8.0</a:t>
            </a:r>
            <a:endParaRPr lang="en-US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4.0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EDC985C-13B8-6E95-7995-D015EFAD1F6A}"/>
              </a:ext>
            </a:extLst>
          </p:cNvPr>
          <p:cNvSpPr txBox="1"/>
          <p:nvPr/>
        </p:nvSpPr>
        <p:spPr>
          <a:xfrm>
            <a:off x="0" y="83976"/>
            <a:ext cx="1231532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u="sng" dirty="0">
                <a:highlight>
                  <a:srgbClr val="FFFF00"/>
                </a:highlight>
              </a:rPr>
              <a:t>Accenture Actual Pseudo Codes &amp; Solutions</a:t>
            </a:r>
          </a:p>
        </p:txBody>
      </p:sp>
    </p:spTree>
    <p:extLst>
      <p:ext uri="{BB962C8B-B14F-4D97-AF65-F5344CB8AC3E}">
        <p14:creationId xmlns:p14="http://schemas.microsoft.com/office/powerpoint/2010/main" val="22968760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66360" y="83976"/>
            <a:ext cx="909462" cy="905069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/>
              <p14:cNvContentPartPr/>
              <p14:nvPr/>
            </p14:nvContentPartPr>
            <p14:xfrm>
              <a:off x="9041973" y="3420413"/>
              <a:ext cx="360" cy="360"/>
            </p14:xfrm>
          </p:contentPart>
        </mc:Choice>
        <mc:Fallback>
          <p:pic>
            <p:nvPicPr>
              <p:cNvPr id="4" name="Ink 3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032973" y="3411413"/>
                <a:ext cx="18000" cy="18000"/>
              </a:xfrm>
              <a:prstGeom prst="rect">
                <a:avLst/>
              </a:prstGeom>
            </p:spPr>
          </p:pic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3BB8834E-ABA0-8464-713E-71746CB7B843}"/>
              </a:ext>
            </a:extLst>
          </p:cNvPr>
          <p:cNvSpPr txBox="1"/>
          <p:nvPr/>
        </p:nvSpPr>
        <p:spPr>
          <a:xfrm>
            <a:off x="116178" y="989045"/>
            <a:ext cx="62655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Q12</a:t>
            </a:r>
            <a:r>
              <a:rPr lang="en-IN" dirty="0"/>
              <a:t>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23EBA87-564E-BBB4-51A5-ACA67C91C0FE}"/>
              </a:ext>
            </a:extLst>
          </p:cNvPr>
          <p:cNvSpPr txBox="1"/>
          <p:nvPr/>
        </p:nvSpPr>
        <p:spPr>
          <a:xfrm>
            <a:off x="286916" y="4817866"/>
            <a:ext cx="6265506" cy="16555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US" sz="2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6</a:t>
            </a: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US" sz="24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7</a:t>
            </a: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US" sz="2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8</a:t>
            </a: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US" sz="24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10</a:t>
            </a:r>
            <a:endParaRPr lang="en-US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AFB321D-FB78-74F5-EF3D-3B044901633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7038" y="1465661"/>
            <a:ext cx="5191850" cy="310558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E5A54A7-8A28-8EF0-A131-0FD2CEF9D597}"/>
              </a:ext>
            </a:extLst>
          </p:cNvPr>
          <p:cNvSpPr txBox="1"/>
          <p:nvPr/>
        </p:nvSpPr>
        <p:spPr>
          <a:xfrm>
            <a:off x="0" y="83976"/>
            <a:ext cx="1231532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u="sng" dirty="0">
                <a:highlight>
                  <a:srgbClr val="FFFF00"/>
                </a:highlight>
              </a:rPr>
              <a:t>Accenture Actual Pseudo Codes &amp; Solutions</a:t>
            </a:r>
          </a:p>
        </p:txBody>
      </p:sp>
    </p:spTree>
    <p:extLst>
      <p:ext uri="{BB962C8B-B14F-4D97-AF65-F5344CB8AC3E}">
        <p14:creationId xmlns:p14="http://schemas.microsoft.com/office/powerpoint/2010/main" val="38023345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66360" y="83976"/>
            <a:ext cx="909462" cy="905069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/>
              <p14:cNvContentPartPr/>
              <p14:nvPr/>
            </p14:nvContentPartPr>
            <p14:xfrm>
              <a:off x="9041973" y="3420413"/>
              <a:ext cx="360" cy="360"/>
            </p14:xfrm>
          </p:contentPart>
        </mc:Choice>
        <mc:Fallback>
          <p:pic>
            <p:nvPicPr>
              <p:cNvPr id="4" name="Ink 3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032973" y="3411413"/>
                <a:ext cx="18000" cy="18000"/>
              </a:xfrm>
              <a:prstGeom prst="rect">
                <a:avLst/>
              </a:prstGeom>
            </p:spPr>
          </p:pic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3BB8834E-ABA0-8464-713E-71746CB7B843}"/>
              </a:ext>
            </a:extLst>
          </p:cNvPr>
          <p:cNvSpPr txBox="1"/>
          <p:nvPr/>
        </p:nvSpPr>
        <p:spPr>
          <a:xfrm>
            <a:off x="116178" y="989045"/>
            <a:ext cx="62655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Q13</a:t>
            </a:r>
            <a:r>
              <a:rPr lang="en-IN" dirty="0"/>
              <a:t>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23EBA87-564E-BBB4-51A5-ACA67C91C0FE}"/>
              </a:ext>
            </a:extLst>
          </p:cNvPr>
          <p:cNvSpPr txBox="1"/>
          <p:nvPr/>
        </p:nvSpPr>
        <p:spPr>
          <a:xfrm>
            <a:off x="286916" y="4817866"/>
            <a:ext cx="6265506" cy="16555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US" sz="2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US" sz="24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12</a:t>
            </a: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US" sz="2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4</a:t>
            </a: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US" sz="24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-3</a:t>
            </a:r>
            <a:endParaRPr lang="en-US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009F462-58E0-379D-EC87-20754E5FB87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2869" y="1462659"/>
            <a:ext cx="9231013" cy="294363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903B647-4D7A-C697-5171-AD6300AC04B5}"/>
              </a:ext>
            </a:extLst>
          </p:cNvPr>
          <p:cNvSpPr txBox="1"/>
          <p:nvPr/>
        </p:nvSpPr>
        <p:spPr>
          <a:xfrm>
            <a:off x="0" y="83976"/>
            <a:ext cx="1231532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u="sng" dirty="0">
                <a:highlight>
                  <a:srgbClr val="FFFF00"/>
                </a:highlight>
              </a:rPr>
              <a:t>Accenture Actual Pseudo Codes &amp; Solutions</a:t>
            </a:r>
          </a:p>
        </p:txBody>
      </p:sp>
    </p:spTree>
    <p:extLst>
      <p:ext uri="{BB962C8B-B14F-4D97-AF65-F5344CB8AC3E}">
        <p14:creationId xmlns:p14="http://schemas.microsoft.com/office/powerpoint/2010/main" val="12786848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66360" y="83976"/>
            <a:ext cx="909462" cy="905069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/>
              <p14:cNvContentPartPr/>
              <p14:nvPr/>
            </p14:nvContentPartPr>
            <p14:xfrm>
              <a:off x="9041973" y="3420413"/>
              <a:ext cx="360" cy="360"/>
            </p14:xfrm>
          </p:contentPart>
        </mc:Choice>
        <mc:Fallback>
          <p:pic>
            <p:nvPicPr>
              <p:cNvPr id="4" name="Ink 3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032973" y="3411413"/>
                <a:ext cx="18000" cy="18000"/>
              </a:xfrm>
              <a:prstGeom prst="rect">
                <a:avLst/>
              </a:prstGeom>
            </p:spPr>
          </p:pic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3BB8834E-ABA0-8464-713E-71746CB7B843}"/>
              </a:ext>
            </a:extLst>
          </p:cNvPr>
          <p:cNvSpPr txBox="1"/>
          <p:nvPr/>
        </p:nvSpPr>
        <p:spPr>
          <a:xfrm>
            <a:off x="116178" y="989045"/>
            <a:ext cx="62655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Q14</a:t>
            </a:r>
            <a:r>
              <a:rPr lang="en-IN" dirty="0"/>
              <a:t>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23EBA87-564E-BBB4-51A5-ACA67C91C0FE}"/>
              </a:ext>
            </a:extLst>
          </p:cNvPr>
          <p:cNvSpPr txBox="1"/>
          <p:nvPr/>
        </p:nvSpPr>
        <p:spPr>
          <a:xfrm>
            <a:off x="249594" y="5041196"/>
            <a:ext cx="6265506" cy="16555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US" sz="2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3.0</a:t>
            </a: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US" sz="24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15.0</a:t>
            </a: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US" sz="2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5.0</a:t>
            </a: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US" sz="24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0.0</a:t>
            </a:r>
            <a:endParaRPr lang="en-US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D079D93-4A7B-5D41-725E-53F6914D31A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9594" y="1358377"/>
            <a:ext cx="4946429" cy="333382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5D6F608-F904-B8E2-549A-46F8AC03CF86}"/>
              </a:ext>
            </a:extLst>
          </p:cNvPr>
          <p:cNvSpPr txBox="1"/>
          <p:nvPr/>
        </p:nvSpPr>
        <p:spPr>
          <a:xfrm>
            <a:off x="0" y="83976"/>
            <a:ext cx="1231532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u="sng" dirty="0">
                <a:highlight>
                  <a:srgbClr val="FFFF00"/>
                </a:highlight>
              </a:rPr>
              <a:t>Accenture Actual Pseudo Codes &amp; Solutions</a:t>
            </a:r>
          </a:p>
        </p:txBody>
      </p:sp>
    </p:spTree>
    <p:extLst>
      <p:ext uri="{BB962C8B-B14F-4D97-AF65-F5344CB8AC3E}">
        <p14:creationId xmlns:p14="http://schemas.microsoft.com/office/powerpoint/2010/main" val="40315711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66360" y="83976"/>
            <a:ext cx="909462" cy="905069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/>
              <p14:cNvContentPartPr/>
              <p14:nvPr/>
            </p14:nvContentPartPr>
            <p14:xfrm>
              <a:off x="9041973" y="3420413"/>
              <a:ext cx="360" cy="360"/>
            </p14:xfrm>
          </p:contentPart>
        </mc:Choice>
        <mc:Fallback>
          <p:pic>
            <p:nvPicPr>
              <p:cNvPr id="4" name="Ink 3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032973" y="3411413"/>
                <a:ext cx="18000" cy="18000"/>
              </a:xfrm>
              <a:prstGeom prst="rect">
                <a:avLst/>
              </a:prstGeom>
            </p:spPr>
          </p:pic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3BB8834E-ABA0-8464-713E-71746CB7B843}"/>
              </a:ext>
            </a:extLst>
          </p:cNvPr>
          <p:cNvSpPr txBox="1"/>
          <p:nvPr/>
        </p:nvSpPr>
        <p:spPr>
          <a:xfrm>
            <a:off x="116178" y="939029"/>
            <a:ext cx="62560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Q15</a:t>
            </a:r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23EBA87-564E-BBB4-51A5-ACA67C91C0FE}"/>
              </a:ext>
            </a:extLst>
          </p:cNvPr>
          <p:cNvSpPr txBox="1"/>
          <p:nvPr/>
        </p:nvSpPr>
        <p:spPr>
          <a:xfrm>
            <a:off x="5652018" y="1123695"/>
            <a:ext cx="6265506" cy="16555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US" sz="2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US" sz="24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3</a:t>
            </a: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US" sz="2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22</a:t>
            </a: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US" sz="2400" kern="1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8</a:t>
            </a:r>
            <a:endParaRPr lang="en-US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26A7614-44EF-9144-7214-00D8F9026FDA}"/>
              </a:ext>
            </a:extLst>
          </p:cNvPr>
          <p:cNvSpPr txBox="1"/>
          <p:nvPr/>
        </p:nvSpPr>
        <p:spPr>
          <a:xfrm>
            <a:off x="696934" y="935666"/>
            <a:ext cx="6265506" cy="583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Calculate the output of the following pseudocode.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Integer w, x, y, z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Set w = 1, x = 1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for (each y from 11 to 20 )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 for (each z from -3 to 0 )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 w = w + 5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 if(w &gt; y)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Continue 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 End if 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 w = 1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 if(w &gt; z) 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Jump out of the loop 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 End if 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 End for 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End for 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Print w + x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770DFAF-AB03-5B4A-AF9A-51EE6F829ADF}"/>
              </a:ext>
            </a:extLst>
          </p:cNvPr>
          <p:cNvSpPr txBox="1"/>
          <p:nvPr/>
        </p:nvSpPr>
        <p:spPr>
          <a:xfrm>
            <a:off x="0" y="83976"/>
            <a:ext cx="1231532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u="sng" dirty="0">
                <a:highlight>
                  <a:srgbClr val="FFFF00"/>
                </a:highlight>
              </a:rPr>
              <a:t>Accenture Actual Pseudo Codes &amp; Solutions</a:t>
            </a:r>
          </a:p>
        </p:txBody>
      </p:sp>
    </p:spTree>
    <p:extLst>
      <p:ext uri="{BB962C8B-B14F-4D97-AF65-F5344CB8AC3E}">
        <p14:creationId xmlns:p14="http://schemas.microsoft.com/office/powerpoint/2010/main" val="24459173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377</TotalTime>
  <Words>325</Words>
  <Application>Microsoft Office PowerPoint</Application>
  <PresentationFormat>Widescreen</PresentationFormat>
  <Paragraphs>98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Calibri Light</vt:lpstr>
      <vt:lpstr>Symbol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TRICKS to Solve TCS Previous Year Questions</dc:title>
  <dc:creator>Monika Bagora</dc:creator>
  <cp:lastModifiedBy>Monika Bagora</cp:lastModifiedBy>
  <cp:revision>22</cp:revision>
  <dcterms:created xsi:type="dcterms:W3CDTF">2021-12-23T07:45:00Z</dcterms:created>
  <dcterms:modified xsi:type="dcterms:W3CDTF">2024-07-30T20:33:25Z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6A7D4394817948B7B0568DC5921EF755_13</vt:lpwstr>
  </property>
  <property fmtid="{D5CDD505-2E9C-101B-9397-08002B2CF9AE}" pid="3" name="KSOProductBuildVer">
    <vt:lpwstr>1033-12.2.0.16731</vt:lpwstr>
  </property>
</Properties>
</file>