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Roboto"/>
      <p:regular r:id="rId49"/>
      <p:bold r:id="rId50"/>
      <p:italic r:id="rId51"/>
      <p:boldItalic r:id="rId52"/>
    </p:embeddedFont>
    <p:embeddedFont>
      <p:font typeface="Montserrat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Montserrat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6.xml"/><Relationship Id="rId55" Type="http://schemas.openxmlformats.org/officeDocument/2006/relationships/font" Target="fonts/Montserrat-italic.fntdata"/><Relationship Id="rId10" Type="http://schemas.openxmlformats.org/officeDocument/2006/relationships/slide" Target="slides/slide5.xml"/><Relationship Id="rId54" Type="http://schemas.openxmlformats.org/officeDocument/2006/relationships/font" Target="fonts/Montserra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6fb752811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6fb752811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6fb75281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6fb75281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6fb752811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6fb752811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6fa2703cf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6fa2703cf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fa2703cf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6fa2703cf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6fa2703cf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6fa2703cf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fa2703cf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6fa2703cf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6fa2703cf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6fa2703cf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fa2703cf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6fa2703cf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fa2703cf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fa2703cf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fa2703cf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fa2703cf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fa2703cf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6fa2703cf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6fa2703cf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6fa2703cf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fa2703cf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fa2703cf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fa2703cf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fa2703cf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fa2703cf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fa2703cf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fa2703cf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6fa2703cf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fa2703cf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6fa2703cf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fa2703cf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6fa2703cf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fa2703cf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6fa2703cf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fa2703cf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6fa2703cf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fa2703cf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6fa2703cf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6fa2703cf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6fa2703cf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6fa2703cf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6fa2703cf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fa2703cf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fa2703cf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6fa2703cf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6fa2703cf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6fa2703cf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6fa2703cf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6fa2703cf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6fa2703cf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6fa2703cf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6fa2703cf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6fa2703cf0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6fa2703cf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6fa2703cf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6fa2703cf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6fa2703cf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6fa2703cf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6fa2703cf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6fa2703cf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6fa2703cf0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6fa2703cf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6fa2703cf0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6fa2703cf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6fa2703cf0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6fa2703cf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6fa2703cf0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6fa2703cf0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6fa2703cf0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6fa2703cf0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6fa2703cf0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6fa2703cf0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6fa2703cf0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6fa2703cf0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6fa2703cf0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6fa2703cf0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6fa2703cf0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6fa2703cf0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4300"/>
            <a:ext cx="4196050" cy="44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8450" y="564300"/>
            <a:ext cx="4953349" cy="442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266475" y="102600"/>
            <a:ext cx="532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Accenture Test Pattern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Syllabus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1646650"/>
            <a:ext cx="8520600" cy="32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A3A3A"/>
                </a:solidFill>
              </a:rPr>
              <a:t>Accenture Common Applications &amp; MS Office Syllabus           </a:t>
            </a:r>
            <a:endParaRPr b="1"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A3A3A"/>
                </a:solidFill>
              </a:rPr>
              <a:t> • MS Office (Word, PowerPoint, Excel, Outlook)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A3A3A"/>
                </a:solidFill>
              </a:rPr>
              <a:t> • Browsers' fundamentals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A3A3A"/>
                </a:solidFill>
              </a:rPr>
              <a:t> • Shortcut keys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A3A3A"/>
                </a:solidFill>
              </a:rPr>
              <a:t> • Command prompt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A3A3A"/>
                </a:solidFill>
              </a:rPr>
              <a:t> • Working flow of keys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A3A3A"/>
                </a:solidFill>
              </a:rPr>
              <a:t>Accenture Network Security Syllabus</a:t>
            </a:r>
            <a:endParaRPr b="1"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A3A3A"/>
                </a:solidFill>
              </a:rPr>
              <a:t> • Basics of Networking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A3A3A"/>
                </a:solidFill>
              </a:rPr>
              <a:t> • Network Security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A3A3A"/>
                </a:solidFill>
              </a:rPr>
              <a:t> • Encryption standards &amp; Algorithms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A3A3A"/>
                </a:solidFill>
              </a:rPr>
              <a:t> • Network security devices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A3A3A"/>
                </a:solidFill>
              </a:rPr>
              <a:t> • Attack types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A3A3A"/>
                </a:solidFill>
              </a:rPr>
              <a:t>Accenture Cloud Syllabus</a:t>
            </a:r>
            <a:endParaRPr b="1"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A3A3A"/>
                </a:solidFill>
              </a:rPr>
              <a:t> • Fundamentals of Cloud Computing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A3A3A"/>
                </a:solidFill>
              </a:rPr>
              <a:t> • Client server architecture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A3A3A"/>
                </a:solidFill>
              </a:rPr>
              <a:t> • Cloud data centers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A3A3A"/>
                </a:solidFill>
              </a:rPr>
              <a:t> • Cloud service providers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A3A3A"/>
                </a:solidFill>
              </a:rPr>
              <a:t> • Cloud Service Platforms</a:t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A3A3A"/>
              </a:solidFill>
            </a:endParaRPr>
          </a:p>
          <a:p>
            <a:pPr indent="0" lvl="0" marL="594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A3A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A3A3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A3A3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Syllabus</a:t>
            </a:r>
            <a:endParaRPr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311700" y="1646650"/>
            <a:ext cx="8520600" cy="3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Accenture Pseudocode Syllabus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Programming Fundamentals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Looping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Arrays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Recursion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Function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Bitwise Operators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Increment &amp; Decrement Operators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Conditional statements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Basics of Data Structures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Accenture Coding Syllabus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Basics of Programming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Input &amp; Output Concepts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Flow Control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Conditional Looping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Arrays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Functions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Strings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Data types &amp; Operators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Pseudo</a:t>
            </a:r>
            <a:r>
              <a:rPr lang="en"/>
              <a:t> Codes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796675" y="1754100"/>
            <a:ext cx="7764300" cy="4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  <a:highlight>
                  <a:srgbClr val="131417"/>
                </a:highlight>
              </a:rPr>
              <a:t>What operation does the following pseudocode perform?</a:t>
            </a:r>
            <a:endParaRPr sz="1500">
              <a:solidFill>
                <a:srgbClr val="FFFFFF"/>
              </a:solidFill>
              <a:highlight>
                <a:srgbClr val="131417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Declare an array "word" of string data type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Declare a variable l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Take a string as input in the word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for l = 0 to 0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   print word[l]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End for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Algorithm End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a) It prints characters in increasing order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b) It prints the first character of the string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c) It reverses the string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Pseudo</a:t>
            </a:r>
            <a:r>
              <a:rPr lang="en"/>
              <a:t> Codes</a:t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96675" y="1754100"/>
            <a:ext cx="77643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Integer x, y, z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Set x = -2, y = 3, z = 1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if(x + (2 &amp; 2) &amp;&amp; y + (3 &amp; 3) &amp;&amp; z + (2 ^ 2))                a) 2    b) 11     c) 3     d)0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       x = x - 2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       y = x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Else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       x = z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       y = y ^ 2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End if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Print x+ y+ z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Pseudo</a:t>
            </a:r>
            <a:r>
              <a:rPr lang="en"/>
              <a:t> Codes</a:t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796675" y="1754100"/>
            <a:ext cx="7764300" cy="24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arenR"/>
            </a:pPr>
            <a:r>
              <a:rPr lang="en">
                <a:solidFill>
                  <a:srgbClr val="273239"/>
                </a:solidFill>
                <a:highlight>
                  <a:srgbClr val="E0E0E0"/>
                </a:highlight>
              </a:rPr>
              <a:t>Integer p, q, r, sum </a:t>
            </a:r>
            <a:endParaRPr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arenR"/>
            </a:pPr>
            <a:r>
              <a:rPr lang="en">
                <a:solidFill>
                  <a:srgbClr val="273239"/>
                </a:solidFill>
                <a:highlight>
                  <a:srgbClr val="E0E0E0"/>
                </a:highlight>
              </a:rPr>
              <a:t>Read p, q, r </a:t>
            </a:r>
            <a:endParaRPr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arenR"/>
            </a:pPr>
            <a:r>
              <a:rPr lang="en">
                <a:solidFill>
                  <a:srgbClr val="273239"/>
                </a:solidFill>
                <a:highlight>
                  <a:srgbClr val="E0E0E0"/>
                </a:highlight>
              </a:rPr>
              <a:t>Set sum = p + q + r </a:t>
            </a:r>
            <a:endParaRPr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arenR"/>
            </a:pPr>
            <a:r>
              <a:rPr lang="en">
                <a:solidFill>
                  <a:srgbClr val="273239"/>
                </a:solidFill>
                <a:highlight>
                  <a:srgbClr val="E0E0E0"/>
                </a:highlight>
              </a:rPr>
              <a:t>if ((p NOT EQUALS 0) and (sum EQUALS 11) and (q EQUALS 4) and (r NOT EQUALS 0))</a:t>
            </a:r>
            <a:endParaRPr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arenR"/>
            </a:pPr>
            <a:r>
              <a:rPr lang="en">
                <a:solidFill>
                  <a:srgbClr val="273239"/>
                </a:solidFill>
                <a:highlight>
                  <a:srgbClr val="E0E0E0"/>
                </a:highlight>
              </a:rPr>
              <a:t>     Print " Success" </a:t>
            </a:r>
            <a:endParaRPr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arenR"/>
            </a:pPr>
            <a:r>
              <a:rPr lang="en">
                <a:solidFill>
                  <a:srgbClr val="273239"/>
                </a:solidFill>
                <a:highlight>
                  <a:srgbClr val="E0E0E0"/>
                </a:highlight>
              </a:rPr>
              <a:t>Otherwise </a:t>
            </a:r>
            <a:endParaRPr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arenR"/>
            </a:pPr>
            <a:r>
              <a:rPr lang="en">
                <a:solidFill>
                  <a:srgbClr val="273239"/>
                </a:solidFill>
                <a:highlight>
                  <a:srgbClr val="E0E0E0"/>
                </a:highlight>
              </a:rPr>
              <a:t>     Print "Fail" </a:t>
            </a:r>
            <a:endParaRPr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arenR"/>
            </a:pPr>
            <a:r>
              <a:rPr lang="en">
                <a:solidFill>
                  <a:srgbClr val="273239"/>
                </a:solidFill>
                <a:highlight>
                  <a:srgbClr val="E0E0E0"/>
                </a:highlight>
              </a:rPr>
              <a:t>End if</a:t>
            </a:r>
            <a:endParaRPr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highlight>
                  <a:srgbClr val="E0E0E0"/>
                </a:highlight>
              </a:rPr>
              <a:t>p=3 q=8 r=1</a:t>
            </a:r>
            <a:endParaRPr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arenR"/>
            </a:pPr>
            <a:r>
              <a:rPr lang="en">
                <a:solidFill>
                  <a:schemeClr val="dk2"/>
                </a:solidFill>
              </a:rPr>
              <a:t>Sucess  2) Fail     3) error    4) None of thesee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Pseudo</a:t>
            </a:r>
            <a:r>
              <a:rPr lang="en"/>
              <a:t> Codes</a:t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796675" y="1754100"/>
            <a:ext cx="7764300" cy="23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FFFFFF"/>
                </a:solidFill>
                <a:highlight>
                  <a:srgbClr val="131417"/>
                </a:highlight>
              </a:rPr>
              <a:t>Predict the output of the following pseudocode for n = 5, m = 6.</a:t>
            </a:r>
            <a:endParaRPr sz="1500">
              <a:solidFill>
                <a:srgbClr val="FFFFFF"/>
              </a:solidFill>
              <a:highlight>
                <a:srgbClr val="131417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Integer solve(Integer n, Integer m )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  if(n &gt; 4 &amp;&amp; m &lt; 7)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    return solve(n +1, m + 1)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  Else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    Return n + m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  End if 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E0E0E0"/>
                </a:highlight>
              </a:rPr>
              <a:t>End function solve()</a:t>
            </a:r>
            <a:endParaRPr sz="1500">
              <a:solidFill>
                <a:srgbClr val="273239"/>
              </a:solidFill>
              <a:highlight>
                <a:srgbClr val="E0E0E0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arenR"/>
            </a:pPr>
            <a:r>
              <a:rPr lang="en" sz="1500">
                <a:solidFill>
                  <a:schemeClr val="dk2"/>
                </a:solidFill>
              </a:rPr>
              <a:t>15    b) 21   c) 13   d) 10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Pseudo</a:t>
            </a:r>
            <a:r>
              <a:rPr lang="en"/>
              <a:t> Codes</a:t>
            </a: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796675" y="1754100"/>
            <a:ext cx="7764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5) 			</a:t>
            </a: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Initialize i, n=5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Set arr[]= 1, 2, 3, 4, 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for i = 0 to n - 2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  arr[i] = arr[i] + arr[i+1]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End for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Print elements of array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3 3 4 9 5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4 3 7 5 2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3 5 7 9 5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1 2 3 4 5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Pseudo</a:t>
            </a:r>
            <a:r>
              <a:rPr lang="en"/>
              <a:t> Codes</a:t>
            </a:r>
            <a:endParaRPr/>
          </a:p>
        </p:txBody>
      </p:sp>
      <p:sp>
        <p:nvSpPr>
          <p:cNvPr id="109" name="Google Shape;109;p21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796675" y="1754100"/>
            <a:ext cx="77643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6</a:t>
            </a:r>
            <a:r>
              <a:rPr lang="en" sz="1500">
                <a:solidFill>
                  <a:schemeClr val="dk2"/>
                </a:solidFill>
              </a:rPr>
              <a:t>) 			</a:t>
            </a: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Integer x, y, z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Set x = 0, y = 3, z = 11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if(x + (1 | 2) &amp;&amp; y + (2 | 3)) 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  x = x - 2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  y = x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Else 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  x = z 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  y = y ^ 2 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End if 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Print x + y + z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15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10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13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7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Pseudo</a:t>
            </a:r>
            <a:r>
              <a:rPr lang="en"/>
              <a:t> Codes</a:t>
            </a:r>
            <a:endParaRPr/>
          </a:p>
        </p:txBody>
      </p:sp>
      <p:sp>
        <p:nvSpPr>
          <p:cNvPr id="116" name="Google Shape;116;p22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796675" y="1754100"/>
            <a:ext cx="7764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7</a:t>
            </a:r>
            <a:r>
              <a:rPr lang="en" sz="1500">
                <a:solidFill>
                  <a:schemeClr val="dk2"/>
                </a:solidFill>
              </a:rPr>
              <a:t>) 			</a:t>
            </a: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Initialize i, n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Initialize an array of size n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Take the values for the array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for i = 0 to n - 2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  arr[i] = arr[i] - arr[i+1]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End for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3 3 4 9 5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1 1 1 1 1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3 5 7 9 5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2 2 2 2 2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Pseudo</a:t>
            </a:r>
            <a:r>
              <a:rPr lang="en"/>
              <a:t> Codes</a:t>
            </a:r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796675" y="1754100"/>
            <a:ext cx="7764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8</a:t>
            </a:r>
            <a:r>
              <a:rPr lang="en" sz="1200">
                <a:solidFill>
                  <a:schemeClr val="dk2"/>
                </a:solidFill>
              </a:rPr>
              <a:t>) 			</a:t>
            </a: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Integer x, y, z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Set x = 10, y = 16,z = 3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if(x &gt; y)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  x = 2 * y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Else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  y = x / 2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End if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if(z &gt; y)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  z = 2 * y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Else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  y = z / 2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End if 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highlight>
                  <a:schemeClr val="lt1"/>
                </a:highlight>
              </a:rPr>
              <a:t>Print x + y + z</a:t>
            </a:r>
            <a:endParaRPr sz="12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AutoNum type="alphaLcParenR"/>
            </a:pPr>
            <a:r>
              <a:rPr lang="en" sz="1200">
                <a:solidFill>
                  <a:srgbClr val="273239"/>
                </a:solidFill>
                <a:highlight>
                  <a:srgbClr val="FFFFFF"/>
                </a:highlight>
              </a:rPr>
              <a:t>38</a:t>
            </a:r>
            <a:endParaRPr sz="12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AutoNum type="alphaLcParenR"/>
            </a:pPr>
            <a:r>
              <a:rPr lang="en" sz="1200">
                <a:solidFill>
                  <a:srgbClr val="273239"/>
                </a:solidFill>
                <a:highlight>
                  <a:srgbClr val="FFFFFF"/>
                </a:highlight>
              </a:rPr>
              <a:t>20</a:t>
            </a:r>
            <a:endParaRPr sz="12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AutoNum type="alphaLcParenR"/>
            </a:pPr>
            <a:r>
              <a:rPr lang="en" sz="1200">
                <a:solidFill>
                  <a:srgbClr val="273239"/>
                </a:solidFill>
                <a:highlight>
                  <a:srgbClr val="FFFFFF"/>
                </a:highlight>
              </a:rPr>
              <a:t>33</a:t>
            </a:r>
            <a:endParaRPr sz="12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AutoNum type="alphaLcParenR"/>
            </a:pPr>
            <a:r>
              <a:rPr lang="en" sz="1200">
                <a:solidFill>
                  <a:srgbClr val="273239"/>
                </a:solidFill>
                <a:highlight>
                  <a:srgbClr val="FFFFFF"/>
                </a:highlight>
              </a:rPr>
              <a:t>14</a:t>
            </a:r>
            <a:endParaRPr sz="12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Pseudo</a:t>
            </a:r>
            <a:r>
              <a:rPr lang="en"/>
              <a:t> Codes</a:t>
            </a:r>
            <a:endParaRPr/>
          </a:p>
        </p:txBody>
      </p:sp>
      <p:sp>
        <p:nvSpPr>
          <p:cNvPr id="130" name="Google Shape;130;p24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796675" y="1754100"/>
            <a:ext cx="7764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9</a:t>
            </a:r>
            <a:r>
              <a:rPr lang="en" sz="1500">
                <a:solidFill>
                  <a:schemeClr val="dk2"/>
                </a:solidFill>
              </a:rPr>
              <a:t>) 			</a:t>
            </a: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Initialize i, n=5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Set arr[]= 1, 2, 3, 4, 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for i = 0 to n - 2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  arr[i] = arr[i] * arr[i+1]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End for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Print elements of array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10 12 8 2 1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20 12 6 2 1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5 10 6 2  0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20 4 6 1 1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</a:t>
            </a:r>
            <a:r>
              <a:rPr lang="en"/>
              <a:t>Pseudo</a:t>
            </a:r>
            <a:r>
              <a:rPr lang="en"/>
              <a:t> Codes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796675" y="1754100"/>
            <a:ext cx="77643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10</a:t>
            </a:r>
            <a:r>
              <a:rPr lang="en" sz="1500">
                <a:solidFill>
                  <a:schemeClr val="dk2"/>
                </a:solidFill>
              </a:rPr>
              <a:t>) 			What is the output for x=9 and y=7</a:t>
            </a:r>
            <a:endParaRPr sz="15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Integer funn(Integer x, Integer y)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Integer z 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Set z = 2 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y = y mod z 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x = x mod z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return x + y 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73239"/>
                </a:solidFill>
                <a:highlight>
                  <a:schemeClr val="lt1"/>
                </a:highlight>
              </a:rPr>
              <a:t>End function funn()</a:t>
            </a:r>
            <a:endParaRPr sz="1500">
              <a:solidFill>
                <a:srgbClr val="27323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2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3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17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AutoNum type="alphaLcParenR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</a:rPr>
              <a:t>5</a:t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796675" y="1754100"/>
            <a:ext cx="7764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11) Which of following is not a operating system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Macos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Linux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Windows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Microsoft Edge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796675" y="1754100"/>
            <a:ext cx="7764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12) What does the formula= LEN(“I love Mettl”) will return?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Name Error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Reference Error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12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10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796675" y="1754100"/>
            <a:ext cx="7764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13) Which of the following functions will you use to extract month from a date given in a cell in MS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CURRENTMONTH()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DATE()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DAY()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MONTH()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165" name="Google Shape;165;p29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796675" y="1754100"/>
            <a:ext cx="7764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14) IF you want that all the numbers between the 0 and 50 in a range should be displayed in blue color you should perform </a:t>
            </a:r>
            <a:r>
              <a:rPr lang="en" sz="1800">
                <a:solidFill>
                  <a:schemeClr val="dk2"/>
                </a:solidFill>
              </a:rPr>
              <a:t>which</a:t>
            </a:r>
            <a:r>
              <a:rPr lang="en" sz="1800">
                <a:solidFill>
                  <a:schemeClr val="dk2"/>
                </a:solidFill>
              </a:rPr>
              <a:t> of the following operations?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Select the numbers in range from 0-50 and color it blue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Use if function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Apply condition formatting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All of the above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172" name="Google Shape;172;p30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796675" y="1754100"/>
            <a:ext cx="7764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15) </a:t>
            </a: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Starting with Microsoft Office 2003, Photo Editor was renamed to :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A.  Manager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B. Picture Manager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C.  Picture Editor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D.  Paint Editor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Answer : Option B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179" name="Google Shape;179;p31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754750" y="1796025"/>
            <a:ext cx="77643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16) </a:t>
            </a: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A feature of MS Office that saves the document automatically after certain interval is called ____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A. Web Page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B. Explorer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C.  FrontPage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D.  DreamWeaver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Answer : Option C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186" name="Google Shape;186;p32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796675" y="1754100"/>
            <a:ext cx="7764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17) </a:t>
            </a: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Which feature is used to make selected sentence to All Captital Letters or All Small Letters ?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A. Change Letter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B. Change Sentence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C.  Change Case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D.  Change Word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Answer : Option C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193" name="Google Shape;193;p33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796675" y="1754100"/>
            <a:ext cx="7764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18) </a:t>
            </a: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Which of these software applications was not part of the first version of Microsoft Office?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A. Paint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B. Outlook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C.  PowerPoint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D.  MS Word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Answer : Option B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00" name="Google Shape;200;p34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796675" y="1754100"/>
            <a:ext cx="77643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19)</a:t>
            </a: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</a:rPr>
              <a:t> </a:t>
            </a: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Which of the following is the type of connection that helps us navigate from one slide to another slide in the same presentation and to a slide in another presentation?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A.Footer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B.Header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C.Hyperlink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D.Attachment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Answer : Option C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07" name="Google Shape;207;p35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8" name="Google Shape;208;p35"/>
          <p:cNvSpPr txBox="1"/>
          <p:nvPr/>
        </p:nvSpPr>
        <p:spPr>
          <a:xfrm>
            <a:off x="796675" y="1754100"/>
            <a:ext cx="7764300" cy="26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20) </a:t>
            </a: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Which of the following can be used to close a tab on a browser?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A.Ctrl+T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B.Ctrl+A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C.Ctrl+W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D.Ctrl+X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1600" marR="10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D576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Answer : Option C</a:t>
            </a:r>
            <a:endParaRPr sz="1200">
              <a:solidFill>
                <a:srgbClr val="4D576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14" name="Google Shape;214;p36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36"/>
          <p:cNvSpPr txBox="1"/>
          <p:nvPr/>
        </p:nvSpPr>
        <p:spPr>
          <a:xfrm>
            <a:off x="796675" y="1754100"/>
            <a:ext cx="77643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21)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What is the full form of OSI?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optical service implementation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open service Internet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c) open system interconnection</a:t>
            </a:r>
            <a:endParaRPr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d) operating system interface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21" name="Google Shape;221;p37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2" name="Google Shape;222;p37"/>
          <p:cNvSpPr txBox="1"/>
          <p:nvPr/>
        </p:nvSpPr>
        <p:spPr>
          <a:xfrm>
            <a:off x="796675" y="1754100"/>
            <a:ext cx="776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22)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How many layers are there in the ISO OSI reference model?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a) 7</a:t>
            </a:r>
            <a:endParaRPr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5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4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d) 6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28" name="Google Shape;228;p38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38"/>
          <p:cNvSpPr txBox="1"/>
          <p:nvPr/>
        </p:nvSpPr>
        <p:spPr>
          <a:xfrm>
            <a:off x="796675" y="1754100"/>
            <a:ext cx="776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23)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 What are nodes in a computer network?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the computer that routes the data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the computer that terminates the data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the computer that originates the data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d) all of the mentioned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35" name="Google Shape;235;p39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6" name="Google Shape;236;p39"/>
          <p:cNvSpPr txBox="1"/>
          <p:nvPr/>
        </p:nvSpPr>
        <p:spPr>
          <a:xfrm>
            <a:off x="796675" y="1754100"/>
            <a:ext cx="77643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24)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Which of the following maintains the Domain Name System?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a single server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a single computer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c) distributed database system</a:t>
            </a:r>
            <a:endParaRPr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d) none of the mentioned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42" name="Google Shape;242;p40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3" name="Google Shape;243;p40"/>
          <p:cNvSpPr txBox="1"/>
          <p:nvPr/>
        </p:nvSpPr>
        <p:spPr>
          <a:xfrm>
            <a:off x="796675" y="1754100"/>
            <a:ext cx="776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25)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What is the term for the data communication system within a building or campus?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MAN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b) LAN</a:t>
            </a:r>
            <a:endParaRPr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PAN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d) WAN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49" name="Google Shape;249;p41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0" name="Google Shape;250;p41"/>
          <p:cNvSpPr txBox="1"/>
          <p:nvPr/>
        </p:nvSpPr>
        <p:spPr>
          <a:xfrm>
            <a:off x="796675" y="1754100"/>
            <a:ext cx="776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26)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What was the name of the first network?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ASAPNET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b) ARPANET</a:t>
            </a:r>
            <a:endParaRPr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CNNET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d) NSFNET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56" name="Google Shape;256;p42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796675" y="1754100"/>
            <a:ext cx="776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27)</a:t>
            </a:r>
            <a:r>
              <a:rPr lang="en" sz="2000">
                <a:solidFill>
                  <a:schemeClr val="dk2"/>
                </a:solidFill>
              </a:rPr>
              <a:t>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Which network topology requires a central controller or hub?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Ring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Bus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c) Star</a:t>
            </a:r>
            <a:endParaRPr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d) Mesh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63" name="Google Shape;263;p43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4" name="Google Shape;264;p43"/>
          <p:cNvSpPr txBox="1"/>
          <p:nvPr/>
        </p:nvSpPr>
        <p:spPr>
          <a:xfrm>
            <a:off x="796675" y="1754100"/>
            <a:ext cx="776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28)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When collection of various computers seems a single coherent system to its client, then it is called _________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computer network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b) distributed system</a:t>
            </a:r>
            <a:endParaRPr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networking system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d) mail system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70" name="Google Shape;270;p44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1" name="Google Shape;271;p44"/>
          <p:cNvSpPr txBox="1"/>
          <p:nvPr/>
        </p:nvSpPr>
        <p:spPr>
          <a:xfrm>
            <a:off x="796675" y="1754100"/>
            <a:ext cx="776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29)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Which of the following computer networks is built on the top of another network?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prior network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chief network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prime network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d) overlay network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77" name="Google Shape;277;p45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8" name="Google Shape;278;p45"/>
          <p:cNvSpPr txBox="1"/>
          <p:nvPr/>
        </p:nvSpPr>
        <p:spPr>
          <a:xfrm>
            <a:off x="796675" y="1754100"/>
            <a:ext cx="7764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30) What is the full form of TCP/IP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lphaLcParenR"/>
            </a:pPr>
            <a:r>
              <a:rPr lang="en" sz="1800">
                <a:solidFill>
                  <a:srgbClr val="FF0000"/>
                </a:solidFill>
              </a:rPr>
              <a:t>Transmission control Protocol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Transfer control Protocol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Traffic control Protocol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Transmission control Pipe.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84" name="Google Shape;284;p46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5" name="Google Shape;285;p46"/>
          <p:cNvSpPr txBox="1"/>
          <p:nvPr/>
        </p:nvSpPr>
        <p:spPr>
          <a:xfrm>
            <a:off x="796675" y="1754100"/>
            <a:ext cx="7764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31) Which of </a:t>
            </a:r>
            <a:r>
              <a:rPr lang="en" sz="1800">
                <a:solidFill>
                  <a:schemeClr val="dk2"/>
                </a:solidFill>
              </a:rPr>
              <a:t>the</a:t>
            </a:r>
            <a:r>
              <a:rPr lang="en" sz="1800">
                <a:solidFill>
                  <a:schemeClr val="dk2"/>
                </a:solidFill>
              </a:rPr>
              <a:t> following is an application monitoring and observability service?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Amazon EC2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Amazon Route 53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Amazon ElasticCache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lphaLcParenR"/>
            </a:pPr>
            <a:r>
              <a:rPr lang="en" sz="1800">
                <a:solidFill>
                  <a:srgbClr val="FF0000"/>
                </a:solidFill>
              </a:rPr>
              <a:t>Amazon CloudWatch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91" name="Google Shape;291;p47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2" name="Google Shape;292;p47"/>
          <p:cNvSpPr txBox="1"/>
          <p:nvPr/>
        </p:nvSpPr>
        <p:spPr>
          <a:xfrm>
            <a:off x="796675" y="1754100"/>
            <a:ext cx="7764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32) Which of the following metric shows the ratio of time a system or component is functional to the total time it is required or expected to function?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lphaLcParenR"/>
            </a:pPr>
            <a:r>
              <a:rPr lang="en" sz="1800">
                <a:solidFill>
                  <a:srgbClr val="FF0000"/>
                </a:solidFill>
              </a:rPr>
              <a:t>Reliability time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Response time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Service time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Throughput time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298" name="Google Shape;298;p48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9" name="Google Shape;299;p48"/>
          <p:cNvSpPr txBox="1"/>
          <p:nvPr/>
        </p:nvSpPr>
        <p:spPr>
          <a:xfrm>
            <a:off x="796675" y="1754100"/>
            <a:ext cx="7764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33) Which is the major factor/most important in Cloud computing services?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Web services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Softwares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All of the above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lphaLcParenR"/>
            </a:pPr>
            <a:r>
              <a:rPr lang="en" sz="1800">
                <a:solidFill>
                  <a:srgbClr val="FF0000"/>
                </a:solidFill>
              </a:rPr>
              <a:t>Internet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305" name="Google Shape;305;p49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6" name="Google Shape;306;p49"/>
          <p:cNvSpPr txBox="1"/>
          <p:nvPr/>
        </p:nvSpPr>
        <p:spPr>
          <a:xfrm>
            <a:off x="726800" y="1740100"/>
            <a:ext cx="776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34)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Which of the following is not a type of cloud server?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Public Cloud Servers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Private Cloud Servers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Hybrid Cloud Servers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d) Merged Cloud Servers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312" name="Google Shape;312;p50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3" name="Google Shape;313;p50"/>
          <p:cNvSpPr txBox="1"/>
          <p:nvPr/>
        </p:nvSpPr>
        <p:spPr>
          <a:xfrm>
            <a:off x="796675" y="1754100"/>
            <a:ext cx="776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35) </a:t>
            </a:r>
            <a:r>
              <a:rPr lang="en" sz="1150">
                <a:solidFill>
                  <a:srgbClr val="3A3A3A"/>
                </a:solidFill>
                <a:highlight>
                  <a:srgbClr val="FFFFFF"/>
                </a:highlight>
              </a:rPr>
              <a:t>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Which of the following is a type of cloud computing service?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Service-as-a-Software (SaaS)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Software-and-a-Server (SaaS)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c) Software-as-a-Service (SaaS)</a:t>
            </a:r>
            <a:endParaRPr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d) Software-as-a-Server (SaaS)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319" name="Google Shape;319;p51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0" name="Google Shape;320;p51"/>
          <p:cNvSpPr txBox="1"/>
          <p:nvPr/>
        </p:nvSpPr>
        <p:spPr>
          <a:xfrm>
            <a:off x="796675" y="1754100"/>
            <a:ext cx="776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36)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Which of the following is the application of cloud computing?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Adobe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Paypal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Google G Suite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d) All of the above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2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326" name="Google Shape;326;p52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7" name="Google Shape;327;p52"/>
          <p:cNvSpPr txBox="1"/>
          <p:nvPr/>
        </p:nvSpPr>
        <p:spPr>
          <a:xfrm>
            <a:off x="775700" y="1726150"/>
            <a:ext cx="776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37) </a:t>
            </a:r>
            <a:r>
              <a:rPr lang="en" sz="1150">
                <a:solidFill>
                  <a:srgbClr val="3A3A3A"/>
                </a:solidFill>
                <a:highlight>
                  <a:srgbClr val="FFFFFF"/>
                </a:highlight>
              </a:rPr>
              <a:t>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Which of the following is an example of the cloud?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Amazon Web Services (AWS)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Dropbox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Cisco WebEx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d) All of the above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333" name="Google Shape;333;p53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4" name="Google Shape;334;p53"/>
          <p:cNvSpPr txBox="1"/>
          <p:nvPr/>
        </p:nvSpPr>
        <p:spPr>
          <a:xfrm>
            <a:off x="796675" y="1754100"/>
            <a:ext cx="776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38)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Which of the following is an example of a PaaS cloud service?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Heroku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AWS Elastic Beanstalk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Windows Azure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d) All of the above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4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340" name="Google Shape;340;p54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1" name="Google Shape;341;p54"/>
          <p:cNvSpPr txBox="1"/>
          <p:nvPr/>
        </p:nvSpPr>
        <p:spPr>
          <a:xfrm>
            <a:off x="796675" y="1754100"/>
            <a:ext cx="776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39) </a:t>
            </a:r>
            <a:r>
              <a:rPr lang="en" sz="1150">
                <a:solidFill>
                  <a:srgbClr val="3A3A3A"/>
                </a:solidFill>
                <a:highlight>
                  <a:srgbClr val="FFFFFF"/>
                </a:highlight>
              </a:rPr>
              <a:t>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Which of the following is required by Cloud Computing?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That the identity be authenticated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That the authentication be portable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c) That you establish an identity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d) All of the mentioned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5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Technical MCQ</a:t>
            </a:r>
            <a:endParaRPr/>
          </a:p>
        </p:txBody>
      </p:sp>
      <p:sp>
        <p:nvSpPr>
          <p:cNvPr id="347" name="Google Shape;347;p55"/>
          <p:cNvSpPr txBox="1"/>
          <p:nvPr/>
        </p:nvSpPr>
        <p:spPr>
          <a:xfrm>
            <a:off x="419300" y="1628300"/>
            <a:ext cx="57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8" name="Google Shape;348;p55"/>
          <p:cNvSpPr txBox="1"/>
          <p:nvPr/>
        </p:nvSpPr>
        <p:spPr>
          <a:xfrm>
            <a:off x="796675" y="1754100"/>
            <a:ext cx="776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40) </a:t>
            </a: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Cloud computing is a concept that involves pooling physical resources and offering them as which sort of resource?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a) cloud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b) real</a:t>
            </a:r>
            <a:endParaRPr sz="20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</a:rPr>
              <a:t>c) virtual</a:t>
            </a:r>
            <a:endParaRPr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A3A3A"/>
                </a:solidFill>
                <a:highlight>
                  <a:srgbClr val="FFFFFF"/>
                </a:highlight>
              </a:rPr>
              <a:t>d) none of the mentioned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