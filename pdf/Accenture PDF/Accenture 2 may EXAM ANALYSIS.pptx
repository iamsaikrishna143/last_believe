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68" r:id="rId7"/>
    <p:sldId id="269" r:id="rId8"/>
    <p:sldId id="270" r:id="rId9"/>
    <p:sldId id="271" r:id="rId10"/>
    <p:sldId id="272"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D7792-61A1-B473-3757-E85E6AE7E8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8584E7-4A08-400B-BD03-3C6271C57B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BBD39B-502F-C189-4F71-1CCA9224475A}"/>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F558C4E7-D3E7-5E3F-ACC8-C331B10379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9424CD-5FA5-B23B-6512-07832E2DF04F}"/>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1204058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54212-8164-5F5F-0A97-2488CFEF6F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7D7D27-5382-47E5-D207-04E0E020BF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9F11EC-D3D3-1597-A0C8-C63E560A7864}"/>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53DA375A-2F2E-E2ED-B3D7-7E628B5A2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8A0235-7744-DE7F-95DA-990AC5FC4841}"/>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1722926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28095-83B9-47DD-D8B3-7C676E45D2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F820BD-5E56-4B32-86F9-FE22D44E29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0CD48F-8743-02BB-AD11-7F44F706E5B1}"/>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97F0980A-333E-9604-9CA1-784194A2DC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08E8C1-3D29-6CDB-5714-CB4589B677DA}"/>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392544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929B2-A602-A9D8-6CD9-693B5E56DD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3CFE32-5123-5BF3-108A-B3A13BD2A0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3C2F10-D5FC-1EB7-1DA0-7AD67A7DB4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C0DA9B-82C7-9025-8200-D63082F9BF4B}"/>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6" name="Footer Placeholder 5">
            <a:extLst>
              <a:ext uri="{FF2B5EF4-FFF2-40B4-BE49-F238E27FC236}">
                <a16:creationId xmlns:a16="http://schemas.microsoft.com/office/drawing/2014/main" id="{889F7EA5-CC6C-67EC-3641-FB9BC12D9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EAEFB2-3370-D776-631F-FB7F64565AA0}"/>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14122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721E-F852-B3D0-24BC-8F14A59523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2BC25C-B46E-96D6-32D5-9384272D4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B721B3-E016-DFF5-7E60-8888C0DBBB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2331FA-68A5-C423-EDE8-A3C85768F2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F7538A-5098-FB68-8546-B915CC834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F4A968-DDDF-EC79-AEDA-8F4CC64DEF04}"/>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8" name="Footer Placeholder 7">
            <a:extLst>
              <a:ext uri="{FF2B5EF4-FFF2-40B4-BE49-F238E27FC236}">
                <a16:creationId xmlns:a16="http://schemas.microsoft.com/office/drawing/2014/main" id="{A2655A58-9A70-3401-E378-E5E9A064DD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9959F9-DEE1-FF6E-8C03-236D14933364}"/>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77226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72C2-8771-0E2D-CBC5-E18617E58F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1E9C45-0059-2313-6FAE-56B75C37481F}"/>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4" name="Footer Placeholder 3">
            <a:extLst>
              <a:ext uri="{FF2B5EF4-FFF2-40B4-BE49-F238E27FC236}">
                <a16:creationId xmlns:a16="http://schemas.microsoft.com/office/drawing/2014/main" id="{759E6AAD-502E-6685-5384-B8965C3A7C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9D838C-2CE7-1A73-F11F-BCE72D806C33}"/>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280522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F37B83-6470-B481-02F7-7765FB0EC75D}"/>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3" name="Footer Placeholder 2">
            <a:extLst>
              <a:ext uri="{FF2B5EF4-FFF2-40B4-BE49-F238E27FC236}">
                <a16:creationId xmlns:a16="http://schemas.microsoft.com/office/drawing/2014/main" id="{F97AB34A-D35C-254E-47FA-64BCEEF16E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31072B-4F13-0549-0301-A5770541A9F4}"/>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569543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50E7B-C097-2208-43A2-31C4C048F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635D5A-BAA8-C172-6B58-3C63FC7741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47E3B4-3333-73A8-57B3-7A57AE46AB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79CE37-25F7-122A-8C98-2A775BBC6FC8}"/>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6" name="Footer Placeholder 5">
            <a:extLst>
              <a:ext uri="{FF2B5EF4-FFF2-40B4-BE49-F238E27FC236}">
                <a16:creationId xmlns:a16="http://schemas.microsoft.com/office/drawing/2014/main" id="{BF3A5F22-04E2-6940-F4BF-AE49DCC74C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92FC80-2D9B-4330-B5B2-51C90EFCB5DC}"/>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2171986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7B8F-9468-3D7C-85DC-70840A97AE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40293D-F895-D2E2-44AB-4F1BB58DBE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5A3C03-69E7-2941-3C55-B4ACCB2A9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BB2CB1-3EB1-C702-6AE0-3A948539D218}"/>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6" name="Footer Placeholder 5">
            <a:extLst>
              <a:ext uri="{FF2B5EF4-FFF2-40B4-BE49-F238E27FC236}">
                <a16:creationId xmlns:a16="http://schemas.microsoft.com/office/drawing/2014/main" id="{F9970669-DAF3-7051-C10B-C02BCD69FB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02A4E0-CFAC-867E-4D58-2B01FDC5CCFB}"/>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210735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9AA28-3298-3615-BB7C-60A2C3083F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18B79D-05A5-A783-EAD1-0DA8CC3F59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CDB7E9-6FEA-E063-092E-606CBB06E231}"/>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E600E3B4-7529-B664-8A45-8D9B42323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60684E-E920-D368-9156-647A8FF34FF0}"/>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343131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E115BE-4D15-7643-E440-69C6B5EEAE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50CD82-3586-A5AE-0D46-5714E31AD9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63C38-7567-B8D1-412D-9080F5ABF014}"/>
              </a:ext>
            </a:extLst>
          </p:cNvPr>
          <p:cNvSpPr>
            <a:spLocks noGrp="1"/>
          </p:cNvSpPr>
          <p:nvPr>
            <p:ph type="dt" sz="half" idx="10"/>
          </p:nvPr>
        </p:nvSpPr>
        <p:spPr/>
        <p:txBody>
          <a:body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96E448D7-7CD4-D25A-E75C-6E5AC1C6A9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199BB-F521-18E4-F998-39ED15B6FA46}"/>
              </a:ext>
            </a:extLst>
          </p:cNvPr>
          <p:cNvSpPr>
            <a:spLocks noGrp="1"/>
          </p:cNvSpPr>
          <p:nvPr>
            <p:ph type="sldNum" sz="quarter" idx="12"/>
          </p:nvPr>
        </p:nvSpPr>
        <p:spPr/>
        <p:txBody>
          <a:bodyPr/>
          <a:lstStyle/>
          <a:p>
            <a:fld id="{DADC8B40-CC97-4A3A-838F-6EFF2F6668D1}" type="slidenum">
              <a:rPr lang="en-IN" smtClean="0"/>
              <a:t>‹#›</a:t>
            </a:fld>
            <a:endParaRPr lang="en-IN"/>
          </a:p>
        </p:txBody>
      </p:sp>
    </p:spTree>
    <p:extLst>
      <p:ext uri="{BB962C8B-B14F-4D97-AF65-F5344CB8AC3E}">
        <p14:creationId xmlns:p14="http://schemas.microsoft.com/office/powerpoint/2010/main" val="127636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9644A-0B83-C095-69D9-1808E34C76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768D22-F929-D79D-6150-086D2C006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67BE3D-3E86-74C8-C77A-CD3DFFCB1E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C2B18-D7C7-4B44-8B5E-6F5657E5A969}" type="datetimeFigureOut">
              <a:rPr lang="en-IN" smtClean="0"/>
              <a:t>18-12-2025</a:t>
            </a:fld>
            <a:endParaRPr lang="en-IN"/>
          </a:p>
        </p:txBody>
      </p:sp>
      <p:sp>
        <p:nvSpPr>
          <p:cNvPr id="5" name="Footer Placeholder 4">
            <a:extLst>
              <a:ext uri="{FF2B5EF4-FFF2-40B4-BE49-F238E27FC236}">
                <a16:creationId xmlns:a16="http://schemas.microsoft.com/office/drawing/2014/main" id="{1CB4C83E-043E-FF4E-EDB3-E24A1302F2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31477F-2BEF-EE41-900C-B25A8B93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C8B40-CC97-4A3A-838F-6EFF2F6668D1}" type="slidenum">
              <a:rPr lang="en-IN" smtClean="0"/>
              <a:t>‹#›</a:t>
            </a:fld>
            <a:endParaRPr lang="en-IN"/>
          </a:p>
        </p:txBody>
      </p:sp>
    </p:spTree>
    <p:extLst>
      <p:ext uri="{BB962C8B-B14F-4D97-AF65-F5344CB8AC3E}">
        <p14:creationId xmlns:p14="http://schemas.microsoft.com/office/powerpoint/2010/main" val="94271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2AEC68-AB17-B511-362E-98B6E851DDE8}"/>
              </a:ext>
            </a:extLst>
          </p:cNvPr>
          <p:cNvSpPr txBox="1"/>
          <p:nvPr/>
        </p:nvSpPr>
        <p:spPr>
          <a:xfrm>
            <a:off x="294968" y="178789"/>
            <a:ext cx="8721213" cy="2777107"/>
          </a:xfrm>
          <a:prstGeom prst="rect">
            <a:avLst/>
          </a:prstGeom>
          <a:noFill/>
        </p:spPr>
        <p:txBody>
          <a:bodyPr wrap="square">
            <a:spAutoFit/>
          </a:bodyPr>
          <a:lstStyle/>
          <a:p>
            <a:pPr>
              <a:lnSpc>
                <a:spcPct val="107000"/>
              </a:lnSpc>
              <a:spcAft>
                <a:spcPts val="800"/>
              </a:spcAft>
            </a:pPr>
            <a:r>
              <a:rPr lang="en-US" sz="3600" b="1" u="sng"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Accenture 2 May 2024 Exam Analysis:</a:t>
            </a:r>
            <a:endParaRPr lang="en-IN" sz="2400" b="1" u="sng"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Technical MCQ: 40 Questions (Easy to Medium)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Coding Section: 2 Questions (Easy, Tricky Based)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0961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B8FA41-FA3F-47A5-BBEC-764980B62318}"/>
              </a:ext>
            </a:extLst>
          </p:cNvPr>
          <p:cNvSpPr txBox="1"/>
          <p:nvPr/>
        </p:nvSpPr>
        <p:spPr>
          <a:xfrm>
            <a:off x="132732" y="212522"/>
            <a:ext cx="11159613" cy="646331"/>
          </a:xfrm>
          <a:prstGeom prst="rect">
            <a:avLst/>
          </a:prstGeom>
          <a:noFill/>
        </p:spPr>
        <p:txBody>
          <a:bodyPr wrap="square">
            <a:spAutoFit/>
          </a:bodyPr>
          <a:lstStyle/>
          <a:p>
            <a:r>
              <a:rPr lang="en-US" sz="3600" b="1" dirty="0">
                <a:highlight>
                  <a:srgbClr val="FFFF00"/>
                </a:highlight>
              </a:rPr>
              <a:t>#Technical MCQ Section:</a:t>
            </a:r>
          </a:p>
        </p:txBody>
      </p:sp>
      <p:sp>
        <p:nvSpPr>
          <p:cNvPr id="5" name="TextBox 4">
            <a:extLst>
              <a:ext uri="{FF2B5EF4-FFF2-40B4-BE49-F238E27FC236}">
                <a16:creationId xmlns:a16="http://schemas.microsoft.com/office/drawing/2014/main" id="{3524BC0D-BEE4-60F3-A891-B3618462CB1C}"/>
              </a:ext>
            </a:extLst>
          </p:cNvPr>
          <p:cNvSpPr txBox="1"/>
          <p:nvPr/>
        </p:nvSpPr>
        <p:spPr>
          <a:xfrm>
            <a:off x="132732" y="999951"/>
            <a:ext cx="12059268" cy="2677656"/>
          </a:xfrm>
          <a:prstGeom prst="rect">
            <a:avLst/>
          </a:prstGeom>
          <a:noFill/>
        </p:spPr>
        <p:txBody>
          <a:bodyPr wrap="square">
            <a:spAutoFit/>
          </a:bodyPr>
          <a:lstStyle/>
          <a:p>
            <a:r>
              <a:rPr lang="en-IN" sz="2400" dirty="0"/>
              <a:t>1. In C++, What is the Result of the bitwise AND Operation Between 1010(in binary) and 1100 (in binary)?</a:t>
            </a:r>
          </a:p>
          <a:p>
            <a:endParaRPr lang="en-IN" sz="2400" dirty="0"/>
          </a:p>
          <a:p>
            <a:pPr marL="457200" indent="-457200">
              <a:buFont typeface="Arial" panose="020B0604020202020204" pitchFamily="34" charset="0"/>
              <a:buChar char="•"/>
            </a:pPr>
            <a:r>
              <a:rPr lang="en-IN" sz="2400" dirty="0"/>
              <a:t>1100</a:t>
            </a:r>
          </a:p>
          <a:p>
            <a:pPr marL="457200" indent="-457200">
              <a:buFont typeface="Arial" panose="020B0604020202020204" pitchFamily="34" charset="0"/>
              <a:buChar char="•"/>
            </a:pPr>
            <a:r>
              <a:rPr lang="en-IN" sz="2400" dirty="0"/>
              <a:t>1010</a:t>
            </a:r>
          </a:p>
          <a:p>
            <a:pPr marL="457200" indent="-457200">
              <a:buFont typeface="Arial" panose="020B0604020202020204" pitchFamily="34" charset="0"/>
              <a:buChar char="•"/>
            </a:pPr>
            <a:r>
              <a:rPr lang="en-IN" sz="2400" dirty="0"/>
              <a:t>10</a:t>
            </a:r>
          </a:p>
          <a:p>
            <a:pPr marL="457200" indent="-457200">
              <a:buFont typeface="Arial" panose="020B0604020202020204" pitchFamily="34" charset="0"/>
              <a:buChar char="•"/>
            </a:pPr>
            <a:r>
              <a:rPr lang="en-IN" sz="2400" dirty="0"/>
              <a:t>1000</a:t>
            </a:r>
          </a:p>
        </p:txBody>
      </p:sp>
      <p:sp>
        <p:nvSpPr>
          <p:cNvPr id="6" name="TextBox 5">
            <a:extLst>
              <a:ext uri="{FF2B5EF4-FFF2-40B4-BE49-F238E27FC236}">
                <a16:creationId xmlns:a16="http://schemas.microsoft.com/office/drawing/2014/main" id="{86767EFB-E74F-C15D-6D46-7EA08701E58A}"/>
              </a:ext>
            </a:extLst>
          </p:cNvPr>
          <p:cNvSpPr txBox="1"/>
          <p:nvPr/>
        </p:nvSpPr>
        <p:spPr>
          <a:xfrm>
            <a:off x="132732" y="3895630"/>
            <a:ext cx="8883445" cy="2677656"/>
          </a:xfrm>
          <a:prstGeom prst="rect">
            <a:avLst/>
          </a:prstGeom>
          <a:noFill/>
        </p:spPr>
        <p:txBody>
          <a:bodyPr wrap="square">
            <a:spAutoFit/>
          </a:bodyPr>
          <a:lstStyle/>
          <a:p>
            <a:r>
              <a:rPr lang="en-US" sz="2800" dirty="0"/>
              <a:t>2</a:t>
            </a:r>
            <a:r>
              <a:rPr lang="en-IN" sz="2800" dirty="0"/>
              <a:t>. Which Security mechanism involves verifying the integrity and authenticity of a message?</a:t>
            </a:r>
          </a:p>
          <a:p>
            <a:pPr marL="457200" indent="-457200">
              <a:buFont typeface="Arial" panose="020B0604020202020204" pitchFamily="34" charset="0"/>
              <a:buChar char="•"/>
            </a:pPr>
            <a:r>
              <a:rPr lang="en-US" sz="2800" dirty="0"/>
              <a:t>Encryption</a:t>
            </a:r>
          </a:p>
          <a:p>
            <a:pPr marL="457200" indent="-457200">
              <a:buFont typeface="Arial" panose="020B0604020202020204" pitchFamily="34" charset="0"/>
              <a:buChar char="•"/>
            </a:pPr>
            <a:r>
              <a:rPr lang="en-US" sz="2800" dirty="0"/>
              <a:t>Hashing</a:t>
            </a:r>
          </a:p>
          <a:p>
            <a:pPr marL="457200" indent="-457200">
              <a:buFont typeface="Arial" panose="020B0604020202020204" pitchFamily="34" charset="0"/>
              <a:buChar char="•"/>
            </a:pPr>
            <a:r>
              <a:rPr lang="en-US" sz="2800" dirty="0"/>
              <a:t>Digital Signatures</a:t>
            </a:r>
          </a:p>
          <a:p>
            <a:pPr marL="457200" indent="-457200">
              <a:buFont typeface="Arial" panose="020B0604020202020204" pitchFamily="34" charset="0"/>
              <a:buChar char="•"/>
            </a:pPr>
            <a:r>
              <a:rPr lang="en-US" sz="2800" dirty="0"/>
              <a:t>Key Exchange</a:t>
            </a:r>
            <a:endParaRPr lang="en-IN" sz="2800" dirty="0"/>
          </a:p>
        </p:txBody>
      </p:sp>
    </p:spTree>
    <p:extLst>
      <p:ext uri="{BB962C8B-B14F-4D97-AF65-F5344CB8AC3E}">
        <p14:creationId xmlns:p14="http://schemas.microsoft.com/office/powerpoint/2010/main" val="400864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24BC0D-BEE4-60F3-A891-B3618462CB1C}"/>
              </a:ext>
            </a:extLst>
          </p:cNvPr>
          <p:cNvSpPr txBox="1"/>
          <p:nvPr/>
        </p:nvSpPr>
        <p:spPr>
          <a:xfrm>
            <a:off x="132732" y="223203"/>
            <a:ext cx="12059268" cy="2308324"/>
          </a:xfrm>
          <a:prstGeom prst="rect">
            <a:avLst/>
          </a:prstGeom>
          <a:noFill/>
        </p:spPr>
        <p:txBody>
          <a:bodyPr wrap="square">
            <a:spAutoFit/>
          </a:bodyPr>
          <a:lstStyle/>
          <a:p>
            <a:r>
              <a:rPr lang="en-IN" sz="2400" dirty="0"/>
              <a:t>3. Which Flowchart symbol represents a subroutine or a module?</a:t>
            </a:r>
          </a:p>
          <a:p>
            <a:endParaRPr lang="en-IN" sz="2400" dirty="0"/>
          </a:p>
          <a:p>
            <a:pPr marL="342900" indent="-342900">
              <a:buFont typeface="Arial" panose="020B0604020202020204" pitchFamily="34" charset="0"/>
              <a:buChar char="•"/>
            </a:pPr>
            <a:r>
              <a:rPr lang="en-IN" sz="2400" dirty="0"/>
              <a:t>Rectangle with wavy bottom</a:t>
            </a:r>
          </a:p>
          <a:p>
            <a:pPr marL="342900" indent="-342900">
              <a:buFont typeface="Arial" panose="020B0604020202020204" pitchFamily="34" charset="0"/>
              <a:buChar char="•"/>
            </a:pPr>
            <a:r>
              <a:rPr lang="en-IN" sz="2400" dirty="0"/>
              <a:t>Parallelogram</a:t>
            </a:r>
          </a:p>
          <a:p>
            <a:pPr marL="342900" indent="-342900">
              <a:buFont typeface="Arial" panose="020B0604020202020204" pitchFamily="34" charset="0"/>
              <a:buChar char="•"/>
            </a:pPr>
            <a:r>
              <a:rPr lang="en-IN" sz="2400" dirty="0"/>
              <a:t>Oval</a:t>
            </a:r>
          </a:p>
          <a:p>
            <a:pPr marL="342900" indent="-342900">
              <a:buFont typeface="Arial" panose="020B0604020202020204" pitchFamily="34" charset="0"/>
              <a:buChar char="•"/>
            </a:pPr>
            <a:r>
              <a:rPr lang="en-IN" sz="2400" dirty="0"/>
              <a:t>Diamond</a:t>
            </a:r>
          </a:p>
        </p:txBody>
      </p:sp>
      <p:sp>
        <p:nvSpPr>
          <p:cNvPr id="2" name="TextBox 1">
            <a:extLst>
              <a:ext uri="{FF2B5EF4-FFF2-40B4-BE49-F238E27FC236}">
                <a16:creationId xmlns:a16="http://schemas.microsoft.com/office/drawing/2014/main" id="{FADCB33C-7B11-B20E-516B-074DDF4B59A1}"/>
              </a:ext>
            </a:extLst>
          </p:cNvPr>
          <p:cNvSpPr txBox="1"/>
          <p:nvPr/>
        </p:nvSpPr>
        <p:spPr>
          <a:xfrm>
            <a:off x="66366" y="3083821"/>
            <a:ext cx="12059268" cy="2308324"/>
          </a:xfrm>
          <a:prstGeom prst="rect">
            <a:avLst/>
          </a:prstGeom>
          <a:noFill/>
        </p:spPr>
        <p:txBody>
          <a:bodyPr wrap="square">
            <a:spAutoFit/>
          </a:bodyPr>
          <a:lstStyle/>
          <a:p>
            <a:r>
              <a:rPr lang="en-IN" sz="2400" dirty="0"/>
              <a:t>4. What is the binary representation of the C++ Constant 0x3A?</a:t>
            </a:r>
          </a:p>
          <a:p>
            <a:endParaRPr lang="en-IN" sz="2400" dirty="0"/>
          </a:p>
          <a:p>
            <a:pPr marL="342900" indent="-342900">
              <a:buFont typeface="Arial" panose="020B0604020202020204" pitchFamily="34" charset="0"/>
              <a:buChar char="•"/>
            </a:pPr>
            <a:r>
              <a:rPr lang="en-IN" sz="2400" dirty="0"/>
              <a:t>111001</a:t>
            </a:r>
          </a:p>
          <a:p>
            <a:pPr marL="342900" indent="-342900">
              <a:buFont typeface="Arial" panose="020B0604020202020204" pitchFamily="34" charset="0"/>
              <a:buChar char="•"/>
            </a:pPr>
            <a:r>
              <a:rPr lang="en-IN" sz="2400" dirty="0"/>
              <a:t>100101</a:t>
            </a:r>
          </a:p>
          <a:p>
            <a:pPr marL="342900" indent="-342900">
              <a:buFont typeface="Arial" panose="020B0604020202020204" pitchFamily="34" charset="0"/>
              <a:buChar char="•"/>
            </a:pPr>
            <a:r>
              <a:rPr lang="en-IN" sz="2400" dirty="0"/>
              <a:t>111010</a:t>
            </a:r>
          </a:p>
          <a:p>
            <a:pPr marL="342900" indent="-342900">
              <a:buFont typeface="Arial" panose="020B0604020202020204" pitchFamily="34" charset="0"/>
              <a:buChar char="•"/>
            </a:pPr>
            <a:r>
              <a:rPr lang="en-IN" sz="2400" dirty="0"/>
              <a:t>1110</a:t>
            </a:r>
          </a:p>
        </p:txBody>
      </p:sp>
    </p:spTree>
    <p:extLst>
      <p:ext uri="{BB962C8B-B14F-4D97-AF65-F5344CB8AC3E}">
        <p14:creationId xmlns:p14="http://schemas.microsoft.com/office/powerpoint/2010/main" val="362746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24BC0D-BEE4-60F3-A891-B3618462CB1C}"/>
              </a:ext>
            </a:extLst>
          </p:cNvPr>
          <p:cNvSpPr txBox="1"/>
          <p:nvPr/>
        </p:nvSpPr>
        <p:spPr>
          <a:xfrm>
            <a:off x="132732" y="223203"/>
            <a:ext cx="12059268" cy="3416320"/>
          </a:xfrm>
          <a:prstGeom prst="rect">
            <a:avLst/>
          </a:prstGeom>
          <a:noFill/>
        </p:spPr>
        <p:txBody>
          <a:bodyPr wrap="square">
            <a:spAutoFit/>
          </a:bodyPr>
          <a:lstStyle/>
          <a:p>
            <a:r>
              <a:rPr lang="en-IN" sz="2400" dirty="0"/>
              <a:t>5. What is the Value of y in the following python code?</a:t>
            </a:r>
          </a:p>
          <a:p>
            <a:endParaRPr lang="en-IN" sz="2400" dirty="0"/>
          </a:p>
          <a:p>
            <a:r>
              <a:rPr lang="en-IN" sz="2400" dirty="0"/>
              <a:t>X = 10</a:t>
            </a:r>
          </a:p>
          <a:p>
            <a:r>
              <a:rPr lang="en-IN" sz="2400" dirty="0"/>
              <a:t>Y = x//3</a:t>
            </a:r>
          </a:p>
          <a:p>
            <a:endParaRPr lang="en-IN" sz="2400" dirty="0"/>
          </a:p>
          <a:p>
            <a:pPr marL="342900" indent="-342900">
              <a:buFont typeface="Arial" panose="020B0604020202020204" pitchFamily="34" charset="0"/>
              <a:buChar char="•"/>
            </a:pPr>
            <a:r>
              <a:rPr lang="en-IN" sz="2400" dirty="0"/>
              <a:t>3.33333…</a:t>
            </a:r>
          </a:p>
          <a:p>
            <a:pPr marL="342900" indent="-342900">
              <a:buFont typeface="Arial" panose="020B0604020202020204" pitchFamily="34" charset="0"/>
              <a:buChar char="•"/>
            </a:pPr>
            <a:r>
              <a:rPr lang="en-IN" sz="2400" dirty="0"/>
              <a:t>3</a:t>
            </a:r>
          </a:p>
          <a:p>
            <a:pPr marL="342900" indent="-342900">
              <a:buFont typeface="Arial" panose="020B0604020202020204" pitchFamily="34" charset="0"/>
              <a:buChar char="•"/>
            </a:pPr>
            <a:r>
              <a:rPr lang="en-IN" sz="2400" dirty="0"/>
              <a:t>4</a:t>
            </a:r>
          </a:p>
          <a:p>
            <a:pPr marL="342900" indent="-342900">
              <a:buFont typeface="Arial" panose="020B0604020202020204" pitchFamily="34" charset="0"/>
              <a:buChar char="•"/>
            </a:pPr>
            <a:r>
              <a:rPr lang="en-IN" sz="2400" dirty="0"/>
              <a:t>3.0</a:t>
            </a:r>
          </a:p>
        </p:txBody>
      </p:sp>
      <p:sp>
        <p:nvSpPr>
          <p:cNvPr id="4" name="TextBox 3">
            <a:extLst>
              <a:ext uri="{FF2B5EF4-FFF2-40B4-BE49-F238E27FC236}">
                <a16:creationId xmlns:a16="http://schemas.microsoft.com/office/drawing/2014/main" id="{475550CB-A5E4-9508-392D-E0F4BD56BCAF}"/>
              </a:ext>
            </a:extLst>
          </p:cNvPr>
          <p:cNvSpPr txBox="1"/>
          <p:nvPr/>
        </p:nvSpPr>
        <p:spPr>
          <a:xfrm>
            <a:off x="132731" y="3817063"/>
            <a:ext cx="11390675" cy="2246769"/>
          </a:xfrm>
          <a:prstGeom prst="rect">
            <a:avLst/>
          </a:prstGeom>
          <a:noFill/>
        </p:spPr>
        <p:txBody>
          <a:bodyPr wrap="square">
            <a:spAutoFit/>
          </a:bodyPr>
          <a:lstStyle/>
          <a:p>
            <a:r>
              <a:rPr lang="en-IN" sz="2800" dirty="0"/>
              <a:t>6. Consider the following python function:</a:t>
            </a:r>
          </a:p>
          <a:p>
            <a:r>
              <a:rPr lang="en-IN" sz="2800" dirty="0"/>
              <a:t>def complex_operation(</a:t>
            </a:r>
            <a:r>
              <a:rPr lang="en-IN" sz="2800" dirty="0" err="1"/>
              <a:t>x,y</a:t>
            </a:r>
            <a:r>
              <a:rPr lang="en-IN" sz="2800" dirty="0"/>
              <a:t>):</a:t>
            </a:r>
          </a:p>
          <a:p>
            <a:r>
              <a:rPr lang="en-IN" sz="2800" dirty="0"/>
              <a:t>result = (x + y) * (x – y)</a:t>
            </a:r>
          </a:p>
          <a:p>
            <a:r>
              <a:rPr lang="en-IN" sz="2800" dirty="0"/>
              <a:t>return result</a:t>
            </a:r>
          </a:p>
          <a:p>
            <a:r>
              <a:rPr lang="en-IN" sz="2800" dirty="0"/>
              <a:t>What is the time complexity of this function in terms of “big O” Notation?</a:t>
            </a:r>
          </a:p>
        </p:txBody>
      </p:sp>
      <p:sp>
        <p:nvSpPr>
          <p:cNvPr id="7" name="TextBox 6">
            <a:extLst>
              <a:ext uri="{FF2B5EF4-FFF2-40B4-BE49-F238E27FC236}">
                <a16:creationId xmlns:a16="http://schemas.microsoft.com/office/drawing/2014/main" id="{7FF6DCF5-06A0-8D6F-850C-7EED013BF988}"/>
              </a:ext>
            </a:extLst>
          </p:cNvPr>
          <p:cNvSpPr txBox="1"/>
          <p:nvPr/>
        </p:nvSpPr>
        <p:spPr>
          <a:xfrm>
            <a:off x="7659329" y="4099655"/>
            <a:ext cx="6096000" cy="1323439"/>
          </a:xfrm>
          <a:prstGeom prst="rect">
            <a:avLst/>
          </a:prstGeom>
          <a:noFill/>
        </p:spPr>
        <p:txBody>
          <a:bodyPr wrap="square">
            <a:spAutoFit/>
          </a:bodyPr>
          <a:lstStyle/>
          <a:p>
            <a:pPr marL="342900" indent="-342900">
              <a:buFont typeface="Arial" panose="020B0604020202020204" pitchFamily="34" charset="0"/>
              <a:buChar char="•"/>
            </a:pPr>
            <a:r>
              <a:rPr lang="en-IN" sz="2000" dirty="0"/>
              <a:t>O(1)</a:t>
            </a:r>
          </a:p>
          <a:p>
            <a:pPr marL="342900" indent="-342900">
              <a:buFont typeface="Arial" panose="020B0604020202020204" pitchFamily="34" charset="0"/>
              <a:buChar char="•"/>
            </a:pPr>
            <a:r>
              <a:rPr lang="en-IN" sz="2000" dirty="0"/>
              <a:t>O(log n)</a:t>
            </a:r>
          </a:p>
          <a:p>
            <a:pPr marL="342900" indent="-342900">
              <a:buFont typeface="Arial" panose="020B0604020202020204" pitchFamily="34" charset="0"/>
              <a:buChar char="•"/>
            </a:pPr>
            <a:r>
              <a:rPr lang="en-IN" sz="2000" dirty="0"/>
              <a:t>O(n)</a:t>
            </a:r>
          </a:p>
          <a:p>
            <a:pPr marL="342900" indent="-342900">
              <a:buFont typeface="Arial" panose="020B0604020202020204" pitchFamily="34" charset="0"/>
              <a:buChar char="•"/>
            </a:pPr>
            <a:r>
              <a:rPr lang="en-IN" sz="2000" dirty="0"/>
              <a:t>O(n^2)</a:t>
            </a:r>
          </a:p>
        </p:txBody>
      </p:sp>
    </p:spTree>
    <p:extLst>
      <p:ext uri="{BB962C8B-B14F-4D97-AF65-F5344CB8AC3E}">
        <p14:creationId xmlns:p14="http://schemas.microsoft.com/office/powerpoint/2010/main" val="568398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B4AF2E-C37B-4E9B-4A7C-4B640933196C}"/>
              </a:ext>
            </a:extLst>
          </p:cNvPr>
          <p:cNvSpPr txBox="1"/>
          <p:nvPr/>
        </p:nvSpPr>
        <p:spPr>
          <a:xfrm>
            <a:off x="132732" y="223203"/>
            <a:ext cx="12059268" cy="2308324"/>
          </a:xfrm>
          <a:prstGeom prst="rect">
            <a:avLst/>
          </a:prstGeom>
          <a:noFill/>
        </p:spPr>
        <p:txBody>
          <a:bodyPr wrap="square">
            <a:spAutoFit/>
          </a:bodyPr>
          <a:lstStyle/>
          <a:p>
            <a:r>
              <a:rPr lang="en-IN" sz="2400" dirty="0"/>
              <a:t>7. In Cloud computing, What is the primary purpose of using a Content Delivery Network (CDN)?</a:t>
            </a:r>
          </a:p>
          <a:p>
            <a:endParaRPr lang="en-IN" sz="2400" dirty="0"/>
          </a:p>
          <a:p>
            <a:pPr marL="342900" indent="-342900">
              <a:buFont typeface="Arial" panose="020B0604020202020204" pitchFamily="34" charset="0"/>
              <a:buChar char="•"/>
            </a:pPr>
            <a:r>
              <a:rPr lang="en-IN" sz="2400" dirty="0"/>
              <a:t>Enhance data encryption</a:t>
            </a:r>
          </a:p>
          <a:p>
            <a:pPr marL="342900" indent="-342900">
              <a:buFont typeface="Arial" panose="020B0604020202020204" pitchFamily="34" charset="0"/>
              <a:buChar char="•"/>
            </a:pPr>
            <a:r>
              <a:rPr lang="en-IN" sz="2400" dirty="0"/>
              <a:t>Accelerate content delivery to end-users</a:t>
            </a:r>
          </a:p>
          <a:p>
            <a:pPr marL="342900" indent="-342900">
              <a:buFont typeface="Arial" panose="020B0604020202020204" pitchFamily="34" charset="0"/>
              <a:buChar char="•"/>
            </a:pPr>
            <a:r>
              <a:rPr lang="en-IN" sz="2400" dirty="0"/>
              <a:t>Manage database Transactions</a:t>
            </a:r>
          </a:p>
          <a:p>
            <a:pPr marL="342900" indent="-342900">
              <a:buFont typeface="Arial" panose="020B0604020202020204" pitchFamily="34" charset="0"/>
              <a:buChar char="•"/>
            </a:pPr>
            <a:r>
              <a:rPr lang="en-IN" sz="2400" dirty="0"/>
              <a:t>Improve Virtual Machine Performance</a:t>
            </a:r>
          </a:p>
        </p:txBody>
      </p:sp>
      <p:sp>
        <p:nvSpPr>
          <p:cNvPr id="6" name="TextBox 5">
            <a:extLst>
              <a:ext uri="{FF2B5EF4-FFF2-40B4-BE49-F238E27FC236}">
                <a16:creationId xmlns:a16="http://schemas.microsoft.com/office/drawing/2014/main" id="{F66A4129-93BC-0071-00F3-83BD5B3B1A74}"/>
              </a:ext>
            </a:extLst>
          </p:cNvPr>
          <p:cNvSpPr txBox="1"/>
          <p:nvPr/>
        </p:nvSpPr>
        <p:spPr>
          <a:xfrm>
            <a:off x="132732" y="3030514"/>
            <a:ext cx="7381567" cy="1938992"/>
          </a:xfrm>
          <a:prstGeom prst="rect">
            <a:avLst/>
          </a:prstGeom>
          <a:noFill/>
        </p:spPr>
        <p:txBody>
          <a:bodyPr wrap="square">
            <a:spAutoFit/>
          </a:bodyPr>
          <a:lstStyle/>
          <a:p>
            <a:r>
              <a:rPr lang="en-IN" sz="2400" dirty="0"/>
              <a:t>8. What is the output of the following C++ Program:</a:t>
            </a:r>
          </a:p>
          <a:p>
            <a:endParaRPr lang="en-IN" sz="2400" dirty="0"/>
          </a:p>
          <a:p>
            <a:r>
              <a:rPr lang="en-IN" sz="2400" dirty="0"/>
              <a:t>#include &lt;iostream?</a:t>
            </a:r>
          </a:p>
          <a:p>
            <a:r>
              <a:rPr lang="en-IN" sz="2400" dirty="0"/>
              <a:t>using namespace std;</a:t>
            </a:r>
          </a:p>
          <a:p>
            <a:endParaRPr lang="en-IN" sz="2400" dirty="0"/>
          </a:p>
        </p:txBody>
      </p:sp>
      <p:pic>
        <p:nvPicPr>
          <p:cNvPr id="9" name="Picture 8">
            <a:extLst>
              <a:ext uri="{FF2B5EF4-FFF2-40B4-BE49-F238E27FC236}">
                <a16:creationId xmlns:a16="http://schemas.microsoft.com/office/drawing/2014/main" id="{F7310674-0822-AFB2-5605-7BAE6A4E5D9C}"/>
              </a:ext>
            </a:extLst>
          </p:cNvPr>
          <p:cNvPicPr>
            <a:picLocks noChangeAspect="1"/>
          </p:cNvPicPr>
          <p:nvPr/>
        </p:nvPicPr>
        <p:blipFill>
          <a:blip r:embed="rId2"/>
          <a:stretch>
            <a:fillRect/>
          </a:stretch>
        </p:blipFill>
        <p:spPr>
          <a:xfrm>
            <a:off x="609599" y="4662130"/>
            <a:ext cx="1808519" cy="2021750"/>
          </a:xfrm>
          <a:prstGeom prst="rect">
            <a:avLst/>
          </a:prstGeom>
        </p:spPr>
      </p:pic>
      <p:sp>
        <p:nvSpPr>
          <p:cNvPr id="11" name="TextBox 10">
            <a:extLst>
              <a:ext uri="{FF2B5EF4-FFF2-40B4-BE49-F238E27FC236}">
                <a16:creationId xmlns:a16="http://schemas.microsoft.com/office/drawing/2014/main" id="{C1B9815E-8F71-CE71-1C3E-E378C9009CEC}"/>
              </a:ext>
            </a:extLst>
          </p:cNvPr>
          <p:cNvSpPr txBox="1"/>
          <p:nvPr/>
        </p:nvSpPr>
        <p:spPr>
          <a:xfrm>
            <a:off x="4023853" y="4765064"/>
            <a:ext cx="6140244" cy="1815882"/>
          </a:xfrm>
          <a:prstGeom prst="rect">
            <a:avLst/>
          </a:prstGeom>
          <a:noFill/>
        </p:spPr>
        <p:txBody>
          <a:bodyPr wrap="square">
            <a:spAutoFit/>
          </a:bodyPr>
          <a:lstStyle/>
          <a:p>
            <a:pPr marL="457200" indent="-457200">
              <a:buFont typeface="Arial" panose="020B0604020202020204" pitchFamily="34" charset="0"/>
              <a:buChar char="•"/>
            </a:pPr>
            <a:r>
              <a:rPr lang="en-IN" sz="2800" dirty="0"/>
              <a:t>10</a:t>
            </a:r>
          </a:p>
          <a:p>
            <a:pPr marL="457200" indent="-457200">
              <a:buFont typeface="Arial" panose="020B0604020202020204" pitchFamily="34" charset="0"/>
              <a:buChar char="•"/>
            </a:pPr>
            <a:r>
              <a:rPr lang="en-IN" sz="2800" dirty="0"/>
              <a:t>5</a:t>
            </a:r>
          </a:p>
          <a:p>
            <a:pPr marL="457200" indent="-457200">
              <a:buFont typeface="Arial" panose="020B0604020202020204" pitchFamily="34" charset="0"/>
              <a:buChar char="•"/>
            </a:pPr>
            <a:r>
              <a:rPr lang="en-IN" sz="2800" dirty="0"/>
              <a:t>compilation Error</a:t>
            </a:r>
          </a:p>
          <a:p>
            <a:pPr marL="457200" indent="-457200">
              <a:buFont typeface="Arial" panose="020B0604020202020204" pitchFamily="34" charset="0"/>
              <a:buChar char="•"/>
            </a:pPr>
            <a:r>
              <a:rPr lang="en-IN" sz="2800" dirty="0"/>
              <a:t>undefined Behaviour </a:t>
            </a:r>
          </a:p>
        </p:txBody>
      </p:sp>
    </p:spTree>
    <p:extLst>
      <p:ext uri="{BB962C8B-B14F-4D97-AF65-F5344CB8AC3E}">
        <p14:creationId xmlns:p14="http://schemas.microsoft.com/office/powerpoint/2010/main" val="269341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B4AF2E-C37B-4E9B-4A7C-4B640933196C}"/>
              </a:ext>
            </a:extLst>
          </p:cNvPr>
          <p:cNvSpPr txBox="1"/>
          <p:nvPr/>
        </p:nvSpPr>
        <p:spPr>
          <a:xfrm>
            <a:off x="132732" y="223203"/>
            <a:ext cx="12059268" cy="4770537"/>
          </a:xfrm>
          <a:prstGeom prst="rect">
            <a:avLst/>
          </a:prstGeom>
          <a:noFill/>
        </p:spPr>
        <p:txBody>
          <a:bodyPr wrap="square">
            <a:spAutoFit/>
          </a:bodyPr>
          <a:lstStyle/>
          <a:p>
            <a:r>
              <a:rPr lang="en-IN" sz="2400" dirty="0"/>
              <a:t>9. Consider the Following Java Code:</a:t>
            </a:r>
          </a:p>
          <a:p>
            <a:endParaRPr lang="en-IN" sz="2400" dirty="0"/>
          </a:p>
          <a:p>
            <a:r>
              <a:rPr lang="en-IN" sz="2400" dirty="0"/>
              <a:t>int n = 4;</a:t>
            </a:r>
          </a:p>
          <a:p>
            <a:r>
              <a:rPr lang="en-IN" sz="2400" dirty="0"/>
              <a:t>int result = 1;</a:t>
            </a:r>
          </a:p>
          <a:p>
            <a:r>
              <a:rPr lang="en-IN" sz="2400" dirty="0"/>
              <a:t>while (n&gt; 0){</a:t>
            </a:r>
          </a:p>
          <a:p>
            <a:r>
              <a:rPr lang="en-IN" sz="2400" dirty="0"/>
              <a:t>result  *= n--;</a:t>
            </a:r>
          </a:p>
          <a:p>
            <a:r>
              <a:rPr lang="en-IN" sz="2400" dirty="0"/>
              <a:t>}</a:t>
            </a:r>
          </a:p>
          <a:p>
            <a:endParaRPr lang="en-IN" sz="2400" dirty="0"/>
          </a:p>
          <a:p>
            <a:pPr marL="457200" indent="-457200">
              <a:buFont typeface="Arial" panose="020B0604020202020204" pitchFamily="34" charset="0"/>
              <a:buChar char="•"/>
            </a:pPr>
            <a:r>
              <a:rPr lang="en-IN" sz="2800" dirty="0"/>
              <a:t>120</a:t>
            </a:r>
          </a:p>
          <a:p>
            <a:pPr marL="457200" indent="-457200">
              <a:buFont typeface="Arial" panose="020B0604020202020204" pitchFamily="34" charset="0"/>
              <a:buChar char="•"/>
            </a:pPr>
            <a:r>
              <a:rPr lang="en-IN" sz="2800" dirty="0"/>
              <a:t>24</a:t>
            </a:r>
          </a:p>
          <a:p>
            <a:pPr marL="457200" indent="-457200">
              <a:buFont typeface="Arial" panose="020B0604020202020204" pitchFamily="34" charset="0"/>
              <a:buChar char="•"/>
            </a:pPr>
            <a:r>
              <a:rPr lang="en-IN" sz="2800" dirty="0"/>
              <a:t>10</a:t>
            </a:r>
          </a:p>
          <a:p>
            <a:pPr marL="457200" indent="-457200">
              <a:buFont typeface="Arial" panose="020B0604020202020204" pitchFamily="34" charset="0"/>
              <a:buChar char="•"/>
            </a:pPr>
            <a:r>
              <a:rPr lang="en-IN" sz="2800" dirty="0"/>
              <a:t>15</a:t>
            </a:r>
          </a:p>
        </p:txBody>
      </p:sp>
    </p:spTree>
    <p:extLst>
      <p:ext uri="{BB962C8B-B14F-4D97-AF65-F5344CB8AC3E}">
        <p14:creationId xmlns:p14="http://schemas.microsoft.com/office/powerpoint/2010/main" val="152046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B4AF2E-C37B-4E9B-4A7C-4B640933196C}"/>
              </a:ext>
            </a:extLst>
          </p:cNvPr>
          <p:cNvSpPr txBox="1"/>
          <p:nvPr/>
        </p:nvSpPr>
        <p:spPr>
          <a:xfrm>
            <a:off x="132732" y="223203"/>
            <a:ext cx="12059268" cy="2677656"/>
          </a:xfrm>
          <a:prstGeom prst="rect">
            <a:avLst/>
          </a:prstGeom>
          <a:noFill/>
        </p:spPr>
        <p:txBody>
          <a:bodyPr wrap="square">
            <a:spAutoFit/>
          </a:bodyPr>
          <a:lstStyle/>
          <a:p>
            <a:r>
              <a:rPr lang="en-US" sz="2800" dirty="0"/>
              <a:t>10.What does “BCC” Stand for in an email?</a:t>
            </a:r>
          </a:p>
          <a:p>
            <a:endParaRPr lang="en-US" sz="2800" dirty="0"/>
          </a:p>
          <a:p>
            <a:pPr marL="457200" indent="-457200">
              <a:buFont typeface="Arial" panose="020B0604020202020204" pitchFamily="34" charset="0"/>
              <a:buChar char="•"/>
            </a:pPr>
            <a:r>
              <a:rPr lang="en-US" sz="2800" dirty="0"/>
              <a:t>Blind Carbon Copy</a:t>
            </a:r>
          </a:p>
          <a:p>
            <a:pPr marL="457200" indent="-457200">
              <a:buFont typeface="Arial" panose="020B0604020202020204" pitchFamily="34" charset="0"/>
              <a:buChar char="•"/>
            </a:pPr>
            <a:r>
              <a:rPr lang="en-US" sz="2800" dirty="0"/>
              <a:t>Backup copy  Conveyance</a:t>
            </a:r>
          </a:p>
          <a:p>
            <a:pPr marL="457200" indent="-457200">
              <a:buFont typeface="Arial" panose="020B0604020202020204" pitchFamily="34" charset="0"/>
              <a:buChar char="•"/>
            </a:pPr>
            <a:r>
              <a:rPr lang="en-US" sz="2800" dirty="0"/>
              <a:t>Blind Communication Conveyance</a:t>
            </a:r>
          </a:p>
          <a:p>
            <a:pPr marL="457200" indent="-457200">
              <a:buFont typeface="Arial" panose="020B0604020202020204" pitchFamily="34" charset="0"/>
              <a:buChar char="•"/>
            </a:pPr>
            <a:r>
              <a:rPr lang="en-US" sz="2800" dirty="0"/>
              <a:t>Backup Central Communication</a:t>
            </a:r>
            <a:endParaRPr lang="en-IN" sz="2800" dirty="0"/>
          </a:p>
        </p:txBody>
      </p:sp>
      <p:sp>
        <p:nvSpPr>
          <p:cNvPr id="6" name="TextBox 5">
            <a:extLst>
              <a:ext uri="{FF2B5EF4-FFF2-40B4-BE49-F238E27FC236}">
                <a16:creationId xmlns:a16="http://schemas.microsoft.com/office/drawing/2014/main" id="{BBFD669E-09B5-7B98-0966-941370E01895}"/>
              </a:ext>
            </a:extLst>
          </p:cNvPr>
          <p:cNvSpPr txBox="1"/>
          <p:nvPr/>
        </p:nvSpPr>
        <p:spPr>
          <a:xfrm>
            <a:off x="132732" y="3244334"/>
            <a:ext cx="10402529" cy="3108543"/>
          </a:xfrm>
          <a:prstGeom prst="rect">
            <a:avLst/>
          </a:prstGeom>
          <a:noFill/>
        </p:spPr>
        <p:txBody>
          <a:bodyPr wrap="square">
            <a:spAutoFit/>
          </a:bodyPr>
          <a:lstStyle/>
          <a:p>
            <a:r>
              <a:rPr lang="en-US" sz="2800" dirty="0"/>
              <a:t>11. In C++, What is the Primary Purpose of the “const” keyword in function declaration?</a:t>
            </a:r>
          </a:p>
          <a:p>
            <a:endParaRPr lang="en-US" sz="2800" dirty="0"/>
          </a:p>
          <a:p>
            <a:pPr marL="457200" indent="-457200">
              <a:buFont typeface="Arial" panose="020B0604020202020204" pitchFamily="34" charset="0"/>
              <a:buChar char="•"/>
            </a:pPr>
            <a:r>
              <a:rPr lang="en-US" sz="2800" dirty="0"/>
              <a:t>To Specify that function takes no arguments</a:t>
            </a:r>
          </a:p>
          <a:p>
            <a:pPr marL="457200" indent="-457200">
              <a:buFont typeface="Arial" panose="020B0604020202020204" pitchFamily="34" charset="0"/>
              <a:buChar char="•"/>
            </a:pPr>
            <a:r>
              <a:rPr lang="en-US" sz="2800" dirty="0"/>
              <a:t>To indicate that the function cannot be called more than once</a:t>
            </a:r>
          </a:p>
          <a:p>
            <a:pPr marL="457200" indent="-457200">
              <a:buFont typeface="Arial" panose="020B0604020202020204" pitchFamily="34" charset="0"/>
              <a:buChar char="•"/>
            </a:pPr>
            <a:r>
              <a:rPr lang="en-US" sz="2800" dirty="0"/>
              <a:t>To indicate the function does not modify the object It’s called on</a:t>
            </a:r>
          </a:p>
          <a:p>
            <a:pPr marL="457200" indent="-457200">
              <a:buFont typeface="Arial" panose="020B0604020202020204" pitchFamily="34" charset="0"/>
              <a:buChar char="•"/>
            </a:pPr>
            <a:r>
              <a:rPr lang="en-US" sz="2800" dirty="0"/>
              <a:t>To Declare a function as a constructor</a:t>
            </a:r>
          </a:p>
        </p:txBody>
      </p:sp>
    </p:spTree>
    <p:extLst>
      <p:ext uri="{BB962C8B-B14F-4D97-AF65-F5344CB8AC3E}">
        <p14:creationId xmlns:p14="http://schemas.microsoft.com/office/powerpoint/2010/main" val="61562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8E7735-B45D-92FC-B169-A4E0A4223C6A}"/>
              </a:ext>
            </a:extLst>
          </p:cNvPr>
          <p:cNvSpPr txBox="1"/>
          <p:nvPr/>
        </p:nvSpPr>
        <p:spPr>
          <a:xfrm>
            <a:off x="294968" y="186922"/>
            <a:ext cx="10835148" cy="5632311"/>
          </a:xfrm>
          <a:prstGeom prst="rect">
            <a:avLst/>
          </a:prstGeom>
          <a:noFill/>
        </p:spPr>
        <p:txBody>
          <a:bodyPr wrap="square">
            <a:spAutoFit/>
          </a:bodyPr>
          <a:lstStyle/>
          <a:p>
            <a:r>
              <a:rPr lang="en-IN" sz="2400" dirty="0"/>
              <a:t>1. Shaan and Abhishek are playing a game to add numbers. Their mother wants to make a computer program to display the result to check their answers. Write a program to execute this.</a:t>
            </a:r>
          </a:p>
          <a:p>
            <a:endParaRPr lang="en-IN" sz="2400" dirty="0"/>
          </a:p>
          <a:p>
            <a:endParaRPr lang="en-IN" sz="2400" dirty="0"/>
          </a:p>
          <a:p>
            <a:endParaRPr lang="en-IN" sz="2400" dirty="0"/>
          </a:p>
          <a:p>
            <a:r>
              <a:rPr lang="en-IN" sz="2400" dirty="0"/>
              <a:t>Example:</a:t>
            </a:r>
          </a:p>
          <a:p>
            <a:endParaRPr lang="en-IN" sz="2400" dirty="0"/>
          </a:p>
          <a:p>
            <a:r>
              <a:rPr lang="en-IN" sz="2400" dirty="0"/>
              <a:t>Input: 3 23</a:t>
            </a:r>
          </a:p>
          <a:p>
            <a:endParaRPr lang="en-IN" sz="2400" dirty="0"/>
          </a:p>
          <a:p>
            <a:r>
              <a:rPr lang="en-IN" sz="2400" dirty="0"/>
              <a:t>Output: 3 + 23 = 26</a:t>
            </a:r>
          </a:p>
          <a:p>
            <a:endParaRPr lang="en-IN" sz="2400" dirty="0"/>
          </a:p>
          <a:p>
            <a:r>
              <a:rPr lang="en-IN" sz="2400" dirty="0"/>
              <a:t>Input: 23 23</a:t>
            </a:r>
          </a:p>
          <a:p>
            <a:endParaRPr lang="en-IN" sz="2400" dirty="0"/>
          </a:p>
          <a:p>
            <a:r>
              <a:rPr lang="en-IN" sz="2400" dirty="0"/>
              <a:t>Output: 23 + 23 = 46</a:t>
            </a:r>
          </a:p>
        </p:txBody>
      </p:sp>
    </p:spTree>
    <p:extLst>
      <p:ext uri="{BB962C8B-B14F-4D97-AF65-F5344CB8AC3E}">
        <p14:creationId xmlns:p14="http://schemas.microsoft.com/office/powerpoint/2010/main" val="1147919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67C0DE-EB30-05CD-E374-FC4B1D312C92}"/>
              </a:ext>
            </a:extLst>
          </p:cNvPr>
          <p:cNvSpPr txBox="1"/>
          <p:nvPr/>
        </p:nvSpPr>
        <p:spPr>
          <a:xfrm>
            <a:off x="491612" y="366623"/>
            <a:ext cx="11484077" cy="6124754"/>
          </a:xfrm>
          <a:prstGeom prst="rect">
            <a:avLst/>
          </a:prstGeom>
          <a:noFill/>
        </p:spPr>
        <p:txBody>
          <a:bodyPr wrap="square">
            <a:spAutoFit/>
          </a:bodyPr>
          <a:lstStyle/>
          <a:p>
            <a:r>
              <a:rPr lang="en-IN" sz="2800" dirty="0"/>
              <a:t>2. You are given an integer N, and you need to print a butterfly pattern with N Rows.</a:t>
            </a:r>
          </a:p>
          <a:p>
            <a:endParaRPr lang="en-IN" sz="2800" dirty="0"/>
          </a:p>
          <a:p>
            <a:r>
              <a:rPr lang="en-IN" sz="2800" dirty="0"/>
              <a:t>Input:</a:t>
            </a:r>
          </a:p>
          <a:p>
            <a:r>
              <a:rPr lang="en-IN" sz="2800" dirty="0"/>
              <a:t>An integer N (1 &lt;= N &lt;= 100)</a:t>
            </a:r>
          </a:p>
          <a:p>
            <a:endParaRPr lang="en-IN" sz="2800" dirty="0"/>
          </a:p>
          <a:p>
            <a:r>
              <a:rPr lang="en-IN" sz="2800" dirty="0"/>
              <a:t>Output:</a:t>
            </a:r>
          </a:p>
          <a:p>
            <a:r>
              <a:rPr lang="en-IN" sz="2800" dirty="0"/>
              <a:t>• Print the butterfly pattern as described below.</a:t>
            </a:r>
          </a:p>
          <a:p>
            <a:r>
              <a:rPr lang="en-IN" sz="2800" dirty="0"/>
              <a:t>For example, if N=4</a:t>
            </a:r>
          </a:p>
          <a:p>
            <a:r>
              <a:rPr lang="en-IN" sz="2800" dirty="0"/>
              <a:t>**</a:t>
            </a:r>
          </a:p>
          <a:p>
            <a:r>
              <a:rPr lang="en-IN" sz="2800" dirty="0"/>
              <a:t>**</a:t>
            </a:r>
          </a:p>
          <a:p>
            <a:r>
              <a:rPr lang="en-IN" sz="2800" dirty="0"/>
              <a:t>***</a:t>
            </a:r>
          </a:p>
          <a:p>
            <a:r>
              <a:rPr lang="en-IN" sz="2800" dirty="0"/>
              <a:t>***</a:t>
            </a:r>
          </a:p>
          <a:p>
            <a:r>
              <a:rPr lang="en-IN" sz="2800" dirty="0"/>
              <a:t>**** ***</a:t>
            </a:r>
          </a:p>
        </p:txBody>
      </p:sp>
    </p:spTree>
    <p:extLst>
      <p:ext uri="{BB962C8B-B14F-4D97-AF65-F5344CB8AC3E}">
        <p14:creationId xmlns:p14="http://schemas.microsoft.com/office/powerpoint/2010/main" val="31790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67C0DE-EB30-05CD-E374-FC4B1D312C92}"/>
              </a:ext>
            </a:extLst>
          </p:cNvPr>
          <p:cNvSpPr txBox="1"/>
          <p:nvPr/>
        </p:nvSpPr>
        <p:spPr>
          <a:xfrm>
            <a:off x="491612" y="366623"/>
            <a:ext cx="11484077" cy="6124754"/>
          </a:xfrm>
          <a:prstGeom prst="rect">
            <a:avLst/>
          </a:prstGeom>
          <a:noFill/>
        </p:spPr>
        <p:txBody>
          <a:bodyPr wrap="square">
            <a:spAutoFit/>
          </a:bodyPr>
          <a:lstStyle/>
          <a:p>
            <a:pPr marL="514350" indent="-514350">
              <a:buAutoNum type="arabicPeriod"/>
            </a:pPr>
            <a:r>
              <a:rPr lang="en-IN" sz="2800" dirty="0"/>
              <a:t>Floyd's Triangle Pattern</a:t>
            </a:r>
          </a:p>
          <a:p>
            <a:r>
              <a:rPr lang="en-US" sz="2800" dirty="0"/>
              <a:t>You have been given an integer N as input your task is to write a program to print N rows of Floyd's Triangle pattern. Floyd's Triangle is a right-angled triangular array of natural numbers, used for the numbering of lines in a printout.</a:t>
            </a:r>
            <a:endParaRPr lang="en-IN" sz="2800" dirty="0"/>
          </a:p>
          <a:p>
            <a:endParaRPr lang="en-IN" sz="2800" dirty="0"/>
          </a:p>
          <a:p>
            <a:r>
              <a:rPr lang="en-IN" sz="2800" dirty="0"/>
              <a:t>For N = 4</a:t>
            </a:r>
          </a:p>
          <a:p>
            <a:endParaRPr lang="en-IN" sz="2800" dirty="0"/>
          </a:p>
          <a:p>
            <a:r>
              <a:rPr lang="en-IN" sz="2800" dirty="0"/>
              <a:t>1</a:t>
            </a:r>
          </a:p>
          <a:p>
            <a:r>
              <a:rPr lang="en-IN" sz="2800" dirty="0"/>
              <a:t>2 3</a:t>
            </a:r>
          </a:p>
          <a:p>
            <a:r>
              <a:rPr lang="en-IN" sz="2800" dirty="0"/>
              <a:t>4 5 6</a:t>
            </a:r>
          </a:p>
          <a:p>
            <a:r>
              <a:rPr lang="en-IN" sz="2800" dirty="0"/>
              <a:t>7 8 9 10 </a:t>
            </a:r>
          </a:p>
          <a:p>
            <a:endParaRPr lang="en-IN" sz="2800" dirty="0"/>
          </a:p>
          <a:p>
            <a:r>
              <a:rPr lang="en-IN" sz="2800" dirty="0"/>
              <a:t> </a:t>
            </a:r>
          </a:p>
        </p:txBody>
      </p:sp>
    </p:spTree>
    <p:extLst>
      <p:ext uri="{BB962C8B-B14F-4D97-AF65-F5344CB8AC3E}">
        <p14:creationId xmlns:p14="http://schemas.microsoft.com/office/powerpoint/2010/main" val="4179930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67C0DE-EB30-05CD-E374-FC4B1D312C92}"/>
              </a:ext>
            </a:extLst>
          </p:cNvPr>
          <p:cNvSpPr txBox="1"/>
          <p:nvPr/>
        </p:nvSpPr>
        <p:spPr>
          <a:xfrm>
            <a:off x="491612" y="366623"/>
            <a:ext cx="11484077" cy="3970318"/>
          </a:xfrm>
          <a:prstGeom prst="rect">
            <a:avLst/>
          </a:prstGeom>
          <a:noFill/>
        </p:spPr>
        <p:txBody>
          <a:bodyPr wrap="square">
            <a:spAutoFit/>
          </a:bodyPr>
          <a:lstStyle/>
          <a:p>
            <a:r>
              <a:rPr lang="en-US" sz="2800" dirty="0"/>
              <a:t>2. Rohan is a kid who has just learned about creating words from alphabets. He has written some words in the notepad of his father's laptop. Now his father wants to find the longest word written by Rohan using a computer program. Write a program to find the longest string in a given list of strings.</a:t>
            </a:r>
          </a:p>
          <a:p>
            <a:endParaRPr lang="en-US" sz="2800" dirty="0"/>
          </a:p>
          <a:p>
            <a:r>
              <a:rPr lang="en-US" sz="2800" dirty="0"/>
              <a:t>Example:</a:t>
            </a:r>
          </a:p>
          <a:p>
            <a:r>
              <a:rPr lang="en-US" sz="2800" dirty="0"/>
              <a:t>Input: yes no number</a:t>
            </a:r>
          </a:p>
          <a:p>
            <a:r>
              <a:rPr lang="en-US" sz="2800" dirty="0"/>
              <a:t>Output: The longest string is: number</a:t>
            </a:r>
          </a:p>
          <a:p>
            <a:endParaRPr lang="en-IN" sz="2800" dirty="0"/>
          </a:p>
        </p:txBody>
      </p:sp>
    </p:spTree>
    <p:extLst>
      <p:ext uri="{BB962C8B-B14F-4D97-AF65-F5344CB8AC3E}">
        <p14:creationId xmlns:p14="http://schemas.microsoft.com/office/powerpoint/2010/main" val="3795745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653</Words>
  <Application>Microsoft Office PowerPoint</Application>
  <PresentationFormat>Widescreen</PresentationFormat>
  <Paragraphs>127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Monika Bagora</dc:creator>
  <cp:lastModifiedBy>Lokesh Bagora</cp:lastModifiedBy>
  <cp:revision>2</cp:revision>
  <dcterms:created xsi:type="dcterms:W3CDTF">2024-05-02T09:08:38Z</dcterms:created>
  <dcterms:modified xsi:type="dcterms:W3CDTF">2025-12-18T15:24:07Z</dcterms:modified>
</cp:coreProperties>
</file>